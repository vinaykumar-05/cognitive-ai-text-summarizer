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anva Sans Bold" charset="1" panose="020B0803030501040103"/>
      <p:regular r:id="rId20"/>
    </p:embeddedFont>
    <p:embeddedFont>
      <p:font typeface="Canva Sans" charset="1" panose="020B0503030501040103"/>
      <p:regular r:id="rId21"/>
    </p:embeddedFont>
    <p:embeddedFont>
      <p:font typeface="Poppins" charset="1" panose="00000500000000000000"/>
      <p:regular r:id="rId22"/>
    </p:embeddedFont>
    <p:embeddedFont>
      <p:font typeface="Glacial Indifference Bold" charset="1" panose="00000800000000000000"/>
      <p:regular r:id="rId23"/>
    </p:embeddedFont>
    <p:embeddedFont>
      <p:font typeface="Poppins Bold" charset="1" panose="000008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05" t="-5647" r="0" b="-5647"/>
            </a:stretch>
          </a:blipFill>
        </p:spPr>
      </p:sp>
      <p:sp>
        <p:nvSpPr>
          <p:cNvPr name="TextBox 3" id="3"/>
          <p:cNvSpPr txBox="true"/>
          <p:nvPr/>
        </p:nvSpPr>
        <p:spPr>
          <a:xfrm rot="0">
            <a:off x="1028700" y="1103610"/>
            <a:ext cx="16230600" cy="3521008"/>
          </a:xfrm>
          <a:prstGeom prst="rect">
            <a:avLst/>
          </a:prstGeom>
        </p:spPr>
        <p:txBody>
          <a:bodyPr anchor="t" rtlCol="false" tIns="0" lIns="0" bIns="0" rIns="0">
            <a:spAutoFit/>
          </a:bodyPr>
          <a:lstStyle/>
          <a:p>
            <a:pPr algn="ctr">
              <a:lnSpc>
                <a:spcPts val="7000"/>
              </a:lnSpc>
              <a:spcBef>
                <a:spcPct val="0"/>
              </a:spcBef>
            </a:pPr>
            <a:r>
              <a:rPr lang="en-US" b="true" sz="5000">
                <a:solidFill>
                  <a:srgbClr val="FFFFFF"/>
                </a:solidFill>
                <a:latin typeface="Canva Sans Bold"/>
                <a:ea typeface="Canva Sans Bold"/>
                <a:cs typeface="Canva Sans Bold"/>
                <a:sym typeface="Canva Sans Bold"/>
              </a:rPr>
              <a:t>COGNITIVE </a:t>
            </a:r>
            <a:r>
              <a:rPr lang="en-US" b="true" sz="5000">
                <a:solidFill>
                  <a:srgbClr val="FFFFFF"/>
                </a:solidFill>
                <a:latin typeface="Canva Sans Bold"/>
                <a:ea typeface="Canva Sans Bold"/>
                <a:cs typeface="Canva Sans Bold"/>
                <a:sym typeface="Canva Sans Bold"/>
              </a:rPr>
              <a:t>AI-BASED MULTI-DOCUMENT TEXT SUMMARIZATION WITH VISUAL INSIGHT EXTRACTION USING LIGHTWEIGHT NLP TECHNIQUES</a:t>
            </a:r>
          </a:p>
        </p:txBody>
      </p:sp>
      <p:sp>
        <p:nvSpPr>
          <p:cNvPr name="TextBox 4" id="4"/>
          <p:cNvSpPr txBox="true"/>
          <p:nvPr/>
        </p:nvSpPr>
        <p:spPr>
          <a:xfrm rot="0">
            <a:off x="1964036" y="4858073"/>
            <a:ext cx="3539021" cy="1298727"/>
          </a:xfrm>
          <a:prstGeom prst="rect">
            <a:avLst/>
          </a:prstGeom>
        </p:spPr>
        <p:txBody>
          <a:bodyPr anchor="t" rtlCol="false" tIns="0" lIns="0" bIns="0" rIns="0">
            <a:spAutoFit/>
          </a:bodyPr>
          <a:lstStyle/>
          <a:p>
            <a:pPr algn="ctr">
              <a:lnSpc>
                <a:spcPts val="3499"/>
              </a:lnSpc>
            </a:pPr>
            <a:r>
              <a:rPr lang="en-US" sz="2499">
                <a:solidFill>
                  <a:srgbClr val="FFFFFF"/>
                </a:solidFill>
                <a:latin typeface="Canva Sans"/>
                <a:ea typeface="Canva Sans"/>
                <a:cs typeface="Canva Sans"/>
                <a:sym typeface="Canva Sans"/>
              </a:rPr>
              <a:t>Under the Guidance of </a:t>
            </a:r>
          </a:p>
          <a:p>
            <a:pPr algn="ctr">
              <a:lnSpc>
                <a:spcPts val="3499"/>
              </a:lnSpc>
            </a:pPr>
            <a:r>
              <a:rPr lang="en-US" sz="2499">
                <a:solidFill>
                  <a:srgbClr val="FFFFFF"/>
                </a:solidFill>
                <a:latin typeface="Canva Sans"/>
                <a:ea typeface="Canva Sans"/>
                <a:cs typeface="Canva Sans"/>
                <a:sym typeface="Canva Sans"/>
              </a:rPr>
              <a:t>Dr.K.Sivaramakrishna</a:t>
            </a:r>
          </a:p>
          <a:p>
            <a:pPr algn="ctr">
              <a:lnSpc>
                <a:spcPts val="3499"/>
              </a:lnSpc>
            </a:pPr>
            <a:r>
              <a:rPr lang="en-US" sz="2499">
                <a:solidFill>
                  <a:srgbClr val="FFFFFF"/>
                </a:solidFill>
                <a:latin typeface="Canva Sans"/>
                <a:ea typeface="Canva Sans"/>
                <a:cs typeface="Canva Sans"/>
                <a:sym typeface="Canva Sans"/>
              </a:rPr>
              <a:t>(Associate Professor)</a:t>
            </a:r>
          </a:p>
        </p:txBody>
      </p:sp>
      <p:sp>
        <p:nvSpPr>
          <p:cNvPr name="TextBox 5" id="5"/>
          <p:cNvSpPr txBox="true"/>
          <p:nvPr/>
        </p:nvSpPr>
        <p:spPr>
          <a:xfrm rot="0">
            <a:off x="13253686" y="4576992"/>
            <a:ext cx="4529570" cy="1298727"/>
          </a:xfrm>
          <a:prstGeom prst="rect">
            <a:avLst/>
          </a:prstGeom>
        </p:spPr>
        <p:txBody>
          <a:bodyPr anchor="t" rtlCol="false" tIns="0" lIns="0" bIns="0" rIns="0">
            <a:spAutoFit/>
          </a:bodyPr>
          <a:lstStyle/>
          <a:p>
            <a:pPr algn="ctr">
              <a:lnSpc>
                <a:spcPts val="3499"/>
              </a:lnSpc>
            </a:pPr>
            <a:r>
              <a:rPr lang="en-US" sz="2499">
                <a:solidFill>
                  <a:srgbClr val="FFFFFF"/>
                </a:solidFill>
                <a:latin typeface="Canva Sans"/>
                <a:ea typeface="Canva Sans"/>
                <a:cs typeface="Canva Sans"/>
                <a:sym typeface="Canva Sans"/>
              </a:rPr>
              <a:t>Subm</a:t>
            </a:r>
            <a:r>
              <a:rPr lang="en-US" sz="2499">
                <a:solidFill>
                  <a:srgbClr val="FFFFFF"/>
                </a:solidFill>
                <a:latin typeface="Canva Sans"/>
                <a:ea typeface="Canva Sans"/>
                <a:cs typeface="Canva Sans"/>
                <a:sym typeface="Canva Sans"/>
              </a:rPr>
              <a:t>itted by </a:t>
            </a:r>
          </a:p>
          <a:p>
            <a:pPr algn="ctr">
              <a:lnSpc>
                <a:spcPts val="3499"/>
              </a:lnSpc>
            </a:pPr>
            <a:r>
              <a:rPr lang="en-US" sz="2499">
                <a:solidFill>
                  <a:srgbClr val="FFFFFF"/>
                </a:solidFill>
                <a:latin typeface="Canva Sans"/>
                <a:ea typeface="Canva Sans"/>
                <a:cs typeface="Canva Sans"/>
                <a:sym typeface="Canva Sans"/>
              </a:rPr>
              <a:t>K.Vinay Kumar</a:t>
            </a:r>
          </a:p>
          <a:p>
            <a:pPr algn="ctr">
              <a:lnSpc>
                <a:spcPts val="3499"/>
              </a:lnSpc>
            </a:pPr>
            <a:r>
              <a:rPr lang="en-US" sz="2499">
                <a:solidFill>
                  <a:srgbClr val="FFFFFF"/>
                </a:solidFill>
                <a:latin typeface="Canva Sans"/>
                <a:ea typeface="Canva Sans"/>
                <a:cs typeface="Canva Sans"/>
                <a:sym typeface="Canva Sans"/>
              </a:rPr>
              <a:t>22HP1A4262</a:t>
            </a:r>
          </a:p>
        </p:txBody>
      </p:sp>
      <p:sp>
        <p:nvSpPr>
          <p:cNvPr name="TextBox 6" id="6"/>
          <p:cNvSpPr txBox="true"/>
          <p:nvPr/>
        </p:nvSpPr>
        <p:spPr>
          <a:xfrm rot="0">
            <a:off x="1702436" y="6181823"/>
            <a:ext cx="15532426" cy="1736927"/>
          </a:xfrm>
          <a:prstGeom prst="rect">
            <a:avLst/>
          </a:prstGeom>
        </p:spPr>
        <p:txBody>
          <a:bodyPr anchor="t" rtlCol="false" tIns="0" lIns="0" bIns="0" rIns="0">
            <a:spAutoFit/>
          </a:bodyPr>
          <a:lstStyle/>
          <a:p>
            <a:pPr algn="ctr">
              <a:lnSpc>
                <a:spcPts val="3499"/>
              </a:lnSpc>
            </a:pPr>
            <a:r>
              <a:rPr lang="en-US" sz="2499">
                <a:solidFill>
                  <a:srgbClr val="FFFFFF"/>
                </a:solidFill>
                <a:latin typeface="Canva Sans"/>
                <a:ea typeface="Canva Sans"/>
                <a:cs typeface="Canva Sans"/>
                <a:sym typeface="Canva Sans"/>
              </a:rPr>
              <a:t>Institution</a:t>
            </a:r>
          </a:p>
          <a:p>
            <a:pPr algn="ctr">
              <a:lnSpc>
                <a:spcPts val="3499"/>
              </a:lnSpc>
            </a:pPr>
            <a:r>
              <a:rPr lang="en-US" sz="2499">
                <a:solidFill>
                  <a:srgbClr val="FFFFFF"/>
                </a:solidFill>
                <a:latin typeface="Canva Sans"/>
                <a:ea typeface="Canva Sans"/>
                <a:cs typeface="Canva Sans"/>
                <a:sym typeface="Canva Sans"/>
              </a:rPr>
              <a:t> Department of Computer Science and Engineering (AI &amp; ML)</a:t>
            </a:r>
          </a:p>
          <a:p>
            <a:pPr algn="ctr">
              <a:lnSpc>
                <a:spcPts val="3499"/>
              </a:lnSpc>
            </a:pPr>
            <a:r>
              <a:rPr lang="en-US" sz="2499">
                <a:solidFill>
                  <a:srgbClr val="FFFFFF"/>
                </a:solidFill>
                <a:latin typeface="Canva Sans"/>
                <a:ea typeface="Canva Sans"/>
                <a:cs typeface="Canva Sans"/>
                <a:sym typeface="Canva Sans"/>
              </a:rPr>
              <a:t> Andhra Loyola Institute of Engineering and Technology</a:t>
            </a:r>
          </a:p>
          <a:p>
            <a:pPr algn="ctr">
              <a:lnSpc>
                <a:spcPts val="3499"/>
              </a:lnSpc>
            </a:pPr>
            <a:r>
              <a:rPr lang="en-US" sz="2499">
                <a:solidFill>
                  <a:srgbClr val="FFFFFF"/>
                </a:solidFill>
                <a:latin typeface="Canva Sans"/>
                <a:ea typeface="Canva Sans"/>
                <a:cs typeface="Canva Sans"/>
                <a:sym typeface="Canva Sans"/>
              </a:rPr>
              <a:t> Vijayawada, Andhra Pradesh, India</a:t>
            </a:r>
          </a:p>
        </p:txBody>
      </p:sp>
      <p:sp>
        <p:nvSpPr>
          <p:cNvPr name="TextBox 7" id="7"/>
          <p:cNvSpPr txBox="true"/>
          <p:nvPr/>
        </p:nvSpPr>
        <p:spPr>
          <a:xfrm rot="0">
            <a:off x="5177099" y="8385475"/>
            <a:ext cx="7933803" cy="1298727"/>
          </a:xfrm>
          <a:prstGeom prst="rect">
            <a:avLst/>
          </a:prstGeom>
        </p:spPr>
        <p:txBody>
          <a:bodyPr anchor="t" rtlCol="false" tIns="0" lIns="0" bIns="0" rIns="0">
            <a:spAutoFit/>
          </a:bodyPr>
          <a:lstStyle/>
          <a:p>
            <a:pPr algn="ctr">
              <a:lnSpc>
                <a:spcPts val="3499"/>
              </a:lnSpc>
            </a:pPr>
            <a:r>
              <a:rPr lang="en-US" sz="2499">
                <a:solidFill>
                  <a:srgbClr val="FFFFFF"/>
                </a:solidFill>
                <a:latin typeface="Canva Sans"/>
                <a:ea typeface="Canva Sans"/>
                <a:cs typeface="Canva Sans"/>
                <a:sym typeface="Canva Sans"/>
              </a:rPr>
              <a:t>Conference:</a:t>
            </a:r>
          </a:p>
          <a:p>
            <a:pPr algn="ctr">
              <a:lnSpc>
                <a:spcPts val="3499"/>
              </a:lnSpc>
            </a:pPr>
            <a:r>
              <a:rPr lang="en-US" sz="2499">
                <a:solidFill>
                  <a:srgbClr val="FFFFFF"/>
                </a:solidFill>
                <a:latin typeface="Canva Sans"/>
                <a:ea typeface="Canva Sans"/>
                <a:cs typeface="Canva Sans"/>
                <a:sym typeface="Canva Sans"/>
              </a:rPr>
              <a:t> Journal of Computer and Electrical Sciences (JCES)</a:t>
            </a:r>
          </a:p>
          <a:p>
            <a:pPr algn="ctr">
              <a:lnSpc>
                <a:spcPts val="3499"/>
              </a:lnSpc>
            </a:pPr>
            <a:r>
              <a:rPr lang="en-US" sz="2499">
                <a:solidFill>
                  <a:srgbClr val="FFFFFF"/>
                </a:solidFill>
                <a:latin typeface="Canva Sans"/>
                <a:ea typeface="Canva Sans"/>
                <a:cs typeface="Canva Sans"/>
                <a:sym typeface="Canva Sans"/>
              </a:rPr>
              <a:t> Volume-1 Issue-3, March 2026</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519813"/>
            <a:ext cx="16230600" cy="8328986"/>
          </a:xfrm>
          <a:prstGeom prst="rect">
            <a:avLst/>
          </a:prstGeom>
        </p:spPr>
        <p:txBody>
          <a:bodyPr anchor="t" rtlCol="false" tIns="0" lIns="0" bIns="0" rIns="0">
            <a:spAutoFit/>
          </a:bodyPr>
          <a:lstStyle/>
          <a:p>
            <a:pPr algn="just">
              <a:lnSpc>
                <a:spcPts val="3499"/>
              </a:lnSpc>
            </a:pPr>
            <a:r>
              <a:rPr lang="en-US" sz="2499">
                <a:solidFill>
                  <a:srgbClr val="000000"/>
                </a:solidFill>
                <a:latin typeface="Poppins"/>
                <a:ea typeface="Poppins"/>
                <a:cs typeface="Poppins"/>
                <a:sym typeface="Poppins"/>
              </a:rPr>
              <a:t>Tex</a:t>
            </a:r>
            <a:r>
              <a:rPr lang="en-US" sz="2499">
                <a:solidFill>
                  <a:srgbClr val="000000"/>
                </a:solidFill>
                <a:latin typeface="Poppins"/>
                <a:ea typeface="Poppins"/>
                <a:cs typeface="Poppins"/>
                <a:sym typeface="Poppins"/>
              </a:rPr>
              <a:t>t summarization plays a crucial role in Natural Language Processing (NLP) for extracting meaningful information from large volumes of data. This project presents a Cognitive AI-Based Multi-Document Text Summarization System that generates accurate and concise summaries from multiple input formats such as PDF documents, images, and raw text.</a:t>
            </a:r>
          </a:p>
          <a:p>
            <a:pPr algn="just">
              <a:lnSpc>
                <a:spcPts val="3499"/>
              </a:lnSpc>
            </a:pPr>
          </a:p>
          <a:p>
            <a:pPr algn="just">
              <a:lnSpc>
                <a:spcPts val="3499"/>
              </a:lnSpc>
            </a:pPr>
            <a:r>
              <a:rPr lang="en-US" sz="2499">
                <a:solidFill>
                  <a:srgbClr val="000000"/>
                </a:solidFill>
                <a:latin typeface="Poppins"/>
                <a:ea typeface="Poppins"/>
                <a:cs typeface="Poppins"/>
                <a:sym typeface="Poppins"/>
              </a:rPr>
              <a:t>The system utilizes PDF parsing and Optical Character Recognition (OCR) techniques to extract textual content from both digital and scanned documents. The extracted data is processed through text preprocessing techniques, including noise removal and normalization, to improve data quality.</a:t>
            </a:r>
          </a:p>
          <a:p>
            <a:pPr algn="just">
              <a:lnSpc>
                <a:spcPts val="3499"/>
              </a:lnSpc>
            </a:pPr>
          </a:p>
          <a:p>
            <a:pPr algn="just">
              <a:lnSpc>
                <a:spcPts val="3499"/>
              </a:lnSpc>
            </a:pPr>
            <a:r>
              <a:rPr lang="en-US" sz="2499">
                <a:solidFill>
                  <a:srgbClr val="000000"/>
                </a:solidFill>
                <a:latin typeface="Poppins"/>
                <a:ea typeface="Poppins"/>
                <a:cs typeface="Poppins"/>
                <a:sym typeface="Poppins"/>
              </a:rPr>
              <a:t>A frequency-based extractive summarization approach is applied to generate both page-wise summaries and a final comprehensive summary, ensuring important information is retained while reducing redundancy. </a:t>
            </a:r>
            <a:r>
              <a:rPr lang="en-US" sz="2499">
                <a:solidFill>
                  <a:srgbClr val="000000"/>
                </a:solidFill>
                <a:latin typeface="Poppins"/>
                <a:ea typeface="Poppins"/>
                <a:cs typeface="Poppins"/>
                <a:sym typeface="Poppins"/>
              </a:rPr>
              <a:t>In addition to text summarization, t</a:t>
            </a:r>
            <a:r>
              <a:rPr lang="en-US" sz="2499">
                <a:solidFill>
                  <a:srgbClr val="000000"/>
                </a:solidFill>
                <a:latin typeface="Poppins"/>
                <a:ea typeface="Poppins"/>
                <a:cs typeface="Poppins"/>
                <a:sym typeface="Poppins"/>
              </a:rPr>
              <a:t>he system incorporates visual content analysis to detect figures and tables and generate meaningful insights from them. The implementation is carried out using JavaScript, PDF.js, and Tesseract.js within a web-based interface.</a:t>
            </a:r>
          </a:p>
          <a:p>
            <a:pPr algn="just">
              <a:lnSpc>
                <a:spcPts val="3499"/>
              </a:lnSpc>
            </a:pPr>
          </a:p>
          <a:p>
            <a:pPr algn="just">
              <a:lnSpc>
                <a:spcPts val="3499"/>
              </a:lnSpc>
            </a:pPr>
            <a:r>
              <a:rPr lang="en-US" sz="2499">
                <a:solidFill>
                  <a:srgbClr val="000000"/>
                </a:solidFill>
                <a:latin typeface="Poppins"/>
                <a:ea typeface="Poppins"/>
                <a:cs typeface="Poppins"/>
                <a:sym typeface="Poppins"/>
              </a:rPr>
              <a:t>Experimental results demonstrate that t</a:t>
            </a:r>
            <a:r>
              <a:rPr lang="en-US" sz="2499">
                <a:solidFill>
                  <a:srgbClr val="000000"/>
                </a:solidFill>
                <a:latin typeface="Poppins"/>
                <a:ea typeface="Poppins"/>
                <a:cs typeface="Poppins"/>
                <a:sym typeface="Poppins"/>
              </a:rPr>
              <a:t>he system effectively handles multi-format documents, produces accurate summaries, and enhances document understanding through integrated visual insights.</a:t>
            </a:r>
          </a:p>
          <a:p>
            <a:pPr algn="just">
              <a:lnSpc>
                <a:spcPts val="3499"/>
              </a:lnSpc>
            </a:pPr>
          </a:p>
        </p:txBody>
      </p:sp>
      <p:sp>
        <p:nvSpPr>
          <p:cNvPr name="TextBox 3" id="3"/>
          <p:cNvSpPr txBox="true"/>
          <p:nvPr/>
        </p:nvSpPr>
        <p:spPr>
          <a:xfrm rot="0">
            <a:off x="7055484" y="677862"/>
            <a:ext cx="9543765" cy="730250"/>
          </a:xfrm>
          <a:prstGeom prst="rect">
            <a:avLst/>
          </a:prstGeom>
        </p:spPr>
        <p:txBody>
          <a:bodyPr anchor="t" rtlCol="false" tIns="0" lIns="0" bIns="0" rIns="0">
            <a:spAutoFit/>
          </a:bodyPr>
          <a:lstStyle/>
          <a:p>
            <a:pPr algn="l">
              <a:lnSpc>
                <a:spcPts val="5650"/>
              </a:lnSpc>
            </a:pPr>
            <a:r>
              <a:rPr lang="en-US" b="true" sz="5000">
                <a:solidFill>
                  <a:srgbClr val="000000"/>
                </a:solidFill>
                <a:latin typeface="Glacial Indifference Bold"/>
                <a:ea typeface="Glacial Indifference Bold"/>
                <a:cs typeface="Glacial Indifference Bold"/>
                <a:sym typeface="Glacial Indifference Bold"/>
              </a:rPr>
              <a:t>ABSTRA</a:t>
            </a:r>
            <a:r>
              <a:rPr lang="en-US" b="true" sz="5000">
                <a:solidFill>
                  <a:srgbClr val="000000"/>
                </a:solidFill>
                <a:latin typeface="Glacial Indifference Bold"/>
                <a:ea typeface="Glacial Indifference Bold"/>
                <a:cs typeface="Glacial Indifference Bold"/>
                <a:sym typeface="Glacial Indifference Bold"/>
              </a:rPr>
              <a:t>CT</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951290" y="677862"/>
            <a:ext cx="6230631" cy="730250"/>
          </a:xfrm>
          <a:prstGeom prst="rect">
            <a:avLst/>
          </a:prstGeom>
        </p:spPr>
        <p:txBody>
          <a:bodyPr anchor="t" rtlCol="false" tIns="0" lIns="0" bIns="0" rIns="0">
            <a:spAutoFit/>
          </a:bodyPr>
          <a:lstStyle/>
          <a:p>
            <a:pPr algn="l">
              <a:lnSpc>
                <a:spcPts val="5650"/>
              </a:lnSpc>
            </a:pPr>
            <a:r>
              <a:rPr lang="en-US" b="true" sz="5000">
                <a:solidFill>
                  <a:srgbClr val="000000"/>
                </a:solidFill>
                <a:latin typeface="Glacial Indifference Bold"/>
                <a:ea typeface="Glacial Indifference Bold"/>
                <a:cs typeface="Glacial Indifference Bold"/>
                <a:sym typeface="Glacial Indifference Bold"/>
              </a:rPr>
              <a:t>AIM OF</a:t>
            </a:r>
            <a:r>
              <a:rPr lang="en-US" b="true" sz="5000">
                <a:solidFill>
                  <a:srgbClr val="000000"/>
                </a:solidFill>
                <a:latin typeface="Glacial Indifference Bold"/>
                <a:ea typeface="Glacial Indifference Bold"/>
                <a:cs typeface="Glacial Indifference Bold"/>
                <a:sym typeface="Glacial Indifference Bold"/>
              </a:rPr>
              <a:t> THE PROJECT</a:t>
            </a:r>
          </a:p>
        </p:txBody>
      </p:sp>
      <p:sp>
        <p:nvSpPr>
          <p:cNvPr name="TextBox 3" id="3"/>
          <p:cNvSpPr txBox="true"/>
          <p:nvPr/>
        </p:nvSpPr>
        <p:spPr>
          <a:xfrm rot="0">
            <a:off x="1424010" y="1570858"/>
            <a:ext cx="15285191" cy="7890785"/>
          </a:xfrm>
          <a:prstGeom prst="rect">
            <a:avLst/>
          </a:prstGeom>
        </p:spPr>
        <p:txBody>
          <a:bodyPr anchor="t" rtlCol="false" tIns="0" lIns="0" bIns="0" rIns="0">
            <a:spAutoFit/>
          </a:bodyPr>
          <a:lstStyle/>
          <a:p>
            <a:pPr algn="just">
              <a:lnSpc>
                <a:spcPts val="3499"/>
              </a:lnSpc>
            </a:pPr>
            <a:r>
              <a:rPr lang="en-US" sz="2499">
                <a:solidFill>
                  <a:srgbClr val="000000"/>
                </a:solidFill>
                <a:latin typeface="Poppins"/>
                <a:ea typeface="Poppins"/>
                <a:cs typeface="Poppins"/>
                <a:sym typeface="Poppins"/>
              </a:rPr>
              <a:t>The main a</a:t>
            </a:r>
            <a:r>
              <a:rPr lang="en-US" sz="2499">
                <a:solidFill>
                  <a:srgbClr val="000000"/>
                </a:solidFill>
                <a:latin typeface="Poppins"/>
                <a:ea typeface="Poppins"/>
                <a:cs typeface="Poppins"/>
                <a:sym typeface="Poppins"/>
              </a:rPr>
              <a:t>im of this project is to develop a Cognitive AI-Based Multi-Document Text Summarization System that can efficiently process and summarize large volumes of data from multiple input formats.</a:t>
            </a:r>
          </a:p>
          <a:p>
            <a:pPr algn="just">
              <a:lnSpc>
                <a:spcPts val="3499"/>
              </a:lnSpc>
            </a:pPr>
          </a:p>
          <a:p>
            <a:pPr algn="just">
              <a:lnSpc>
                <a:spcPts val="3499"/>
              </a:lnSpc>
            </a:pPr>
            <a:r>
              <a:rPr lang="en-US" b="true" sz="2499">
                <a:solidFill>
                  <a:srgbClr val="000000"/>
                </a:solidFill>
                <a:latin typeface="Poppins Bold"/>
                <a:ea typeface="Poppins Bold"/>
                <a:cs typeface="Poppins Bold"/>
                <a:sym typeface="Poppins Bold"/>
              </a:rPr>
              <a:t>The project focuses on:</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To design a system that supports multi-format inputs such as PDF documents, images, and raw text</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To extract textual content using PDF parsing and Optical Character Recognition (OCR) techniques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To implement text preprocessing methods for cleaning and improving data quality</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To generate accurate and concise summaries using a frequency-based extractive approach</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To provide both page-wise summaries and a final comprehensive summary</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To incorporate visual content analysis for detecting figures and tables and generating meaningful insights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To develop a user-friendly web interface for easy interaction and result visualization</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To enhance overall document understanding and usability</a:t>
            </a:r>
          </a:p>
          <a:p>
            <a:pPr algn="just">
              <a:lnSpc>
                <a:spcPts val="3499"/>
              </a:lnSpc>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076782" y="677862"/>
            <a:ext cx="5985891" cy="730250"/>
          </a:xfrm>
          <a:prstGeom prst="rect">
            <a:avLst/>
          </a:prstGeom>
        </p:spPr>
        <p:txBody>
          <a:bodyPr anchor="t" rtlCol="false" tIns="0" lIns="0" bIns="0" rIns="0">
            <a:spAutoFit/>
          </a:bodyPr>
          <a:lstStyle/>
          <a:p>
            <a:pPr algn="l">
              <a:lnSpc>
                <a:spcPts val="5650"/>
              </a:lnSpc>
            </a:pPr>
            <a:r>
              <a:rPr lang="en-US" b="true" sz="5000">
                <a:solidFill>
                  <a:srgbClr val="000000"/>
                </a:solidFill>
                <a:latin typeface="Glacial Indifference Bold"/>
                <a:ea typeface="Glacial Indifference Bold"/>
                <a:cs typeface="Glacial Indifference Bold"/>
                <a:sym typeface="Glacial Indifference Bold"/>
              </a:rPr>
              <a:t>LITERATURE SURVEY</a:t>
            </a:r>
          </a:p>
        </p:txBody>
      </p:sp>
      <p:sp>
        <p:nvSpPr>
          <p:cNvPr name="TextBox 3" id="3"/>
          <p:cNvSpPr txBox="true"/>
          <p:nvPr/>
        </p:nvSpPr>
        <p:spPr>
          <a:xfrm rot="0">
            <a:off x="1057125" y="1511780"/>
            <a:ext cx="16202175" cy="5261582"/>
          </a:xfrm>
          <a:prstGeom prst="rect">
            <a:avLst/>
          </a:prstGeom>
        </p:spPr>
        <p:txBody>
          <a:bodyPr anchor="t" rtlCol="false" tIns="0" lIns="0" bIns="0" rIns="0">
            <a:spAutoFit/>
          </a:bodyPr>
          <a:lstStyle/>
          <a:p>
            <a:pPr algn="l">
              <a:lnSpc>
                <a:spcPts val="3499"/>
              </a:lnSpc>
            </a:pPr>
            <a:r>
              <a:rPr lang="en-US" sz="2499" b="true">
                <a:solidFill>
                  <a:srgbClr val="000000"/>
                </a:solidFill>
                <a:latin typeface="Poppins Bold"/>
                <a:ea typeface="Poppins Bold"/>
                <a:cs typeface="Poppins Bold"/>
                <a:sym typeface="Poppins Bold"/>
              </a:rPr>
              <a:t>Existing System (Based on Research Paper)</a:t>
            </a:r>
          </a:p>
          <a:p>
            <a:pPr algn="l" marL="539749" indent="-269875" lvl="1">
              <a:lnSpc>
                <a:spcPts val="3499"/>
              </a:lnSpc>
              <a:buFont typeface="Arial"/>
              <a:buChar char="•"/>
            </a:pPr>
            <a:r>
              <a:rPr lang="en-US" sz="2499">
                <a:solidFill>
                  <a:srgbClr val="000000"/>
                </a:solidFill>
                <a:latin typeface="Poppins"/>
                <a:ea typeface="Poppins"/>
                <a:cs typeface="Poppins"/>
                <a:sym typeface="Poppins"/>
              </a:rPr>
              <a:t>Rec</a:t>
            </a:r>
            <a:r>
              <a:rPr lang="en-US" sz="2499">
                <a:solidFill>
                  <a:srgbClr val="000000"/>
                </a:solidFill>
                <a:latin typeface="Poppins"/>
                <a:ea typeface="Poppins"/>
                <a:cs typeface="Poppins"/>
                <a:sym typeface="Poppins"/>
              </a:rPr>
              <a:t>ent research focuses on AI-based visual summarization systems that convert large data into graphical representations such as infographics</a:t>
            </a:r>
          </a:p>
          <a:p>
            <a:pPr algn="l" marL="539749" indent="-269875" lvl="1">
              <a:lnSpc>
                <a:spcPts val="3499"/>
              </a:lnSpc>
              <a:buFont typeface="Arial"/>
              <a:buChar char="•"/>
            </a:pPr>
            <a:r>
              <a:rPr lang="en-US" sz="2499">
                <a:solidFill>
                  <a:srgbClr val="000000"/>
                </a:solidFill>
                <a:latin typeface="Poppins"/>
                <a:ea typeface="Poppins"/>
                <a:cs typeface="Poppins"/>
                <a:sym typeface="Poppins"/>
              </a:rPr>
              <a:t>The system supports multi-language input and translation using advanced models like GPT, Gemini, and LLaMA. It generates visual summaries using icons, templates, and structured layouts</a:t>
            </a:r>
          </a:p>
          <a:p>
            <a:pPr algn="l" marL="539749" indent="-269875" lvl="1">
              <a:lnSpc>
                <a:spcPts val="3499"/>
              </a:lnSpc>
              <a:buFont typeface="Arial"/>
              <a:buChar char="•"/>
            </a:pPr>
            <a:r>
              <a:rPr lang="en-US" sz="2499">
                <a:solidFill>
                  <a:srgbClr val="000000"/>
                </a:solidFill>
                <a:latin typeface="Poppins"/>
                <a:ea typeface="Poppins"/>
                <a:cs typeface="Poppins"/>
                <a:sym typeface="Poppins"/>
              </a:rPr>
              <a:t>Uses pre-trained language models for text summarization and keyword extraction</a:t>
            </a:r>
          </a:p>
          <a:p>
            <a:pPr algn="l" marL="539749" indent="-269875" lvl="1">
              <a:lnSpc>
                <a:spcPts val="3499"/>
              </a:lnSpc>
              <a:buFont typeface="Arial"/>
              <a:buChar char="•"/>
            </a:pPr>
            <a:r>
              <a:rPr lang="en-US" sz="2499">
                <a:solidFill>
                  <a:srgbClr val="000000"/>
                </a:solidFill>
                <a:latin typeface="Poppins"/>
                <a:ea typeface="Poppins"/>
                <a:cs typeface="Poppins"/>
                <a:sym typeface="Poppins"/>
              </a:rPr>
              <a:t>Improves user understanding through visual representation instead of plain text</a:t>
            </a:r>
          </a:p>
          <a:p>
            <a:pPr algn="l">
              <a:lnSpc>
                <a:spcPts val="3499"/>
              </a:lnSpc>
            </a:pPr>
            <a:r>
              <a:rPr lang="en-US" sz="2499">
                <a:solidFill>
                  <a:srgbClr val="000000"/>
                </a:solidFill>
                <a:latin typeface="Poppins"/>
                <a:ea typeface="Poppins"/>
                <a:cs typeface="Poppins"/>
                <a:sym typeface="Poppins"/>
              </a:rPr>
              <a:t>However, the system has limitations:</a:t>
            </a:r>
          </a:p>
          <a:p>
            <a:pPr algn="l" marL="539749" indent="-269875" lvl="1">
              <a:lnSpc>
                <a:spcPts val="3499"/>
              </a:lnSpc>
              <a:buFont typeface="Arial"/>
              <a:buChar char="•"/>
            </a:pPr>
            <a:r>
              <a:rPr lang="en-US" sz="2499">
                <a:solidFill>
                  <a:srgbClr val="000000"/>
                </a:solidFill>
                <a:latin typeface="Poppins"/>
                <a:ea typeface="Poppins"/>
                <a:cs typeface="Poppins"/>
                <a:sym typeface="Poppins"/>
              </a:rPr>
              <a:t>Focuses mainly on visual infographic generation rather than detailed text summarization</a:t>
            </a:r>
          </a:p>
          <a:p>
            <a:pPr algn="l" marL="539749" indent="-269875" lvl="1">
              <a:lnSpc>
                <a:spcPts val="3499"/>
              </a:lnSpc>
              <a:buFont typeface="Arial"/>
              <a:buChar char="•"/>
            </a:pPr>
            <a:r>
              <a:rPr lang="en-US" sz="2499">
                <a:solidFill>
                  <a:srgbClr val="000000"/>
                </a:solidFill>
                <a:latin typeface="Poppins"/>
                <a:ea typeface="Poppins"/>
                <a:cs typeface="Poppins"/>
                <a:sym typeface="Poppins"/>
              </a:rPr>
              <a:t>Requires high computational resources and complex models. </a:t>
            </a:r>
            <a:r>
              <a:rPr lang="en-US" sz="2499">
                <a:solidFill>
                  <a:srgbClr val="000000"/>
                </a:solidFill>
                <a:latin typeface="Poppins"/>
                <a:ea typeface="Poppins"/>
                <a:cs typeface="Poppins"/>
                <a:sym typeface="Poppins"/>
              </a:rPr>
              <a:t>Does</a:t>
            </a:r>
            <a:r>
              <a:rPr lang="en-US" sz="2499">
                <a:solidFill>
                  <a:srgbClr val="000000"/>
                </a:solidFill>
                <a:latin typeface="Poppins"/>
                <a:ea typeface="Poppins"/>
                <a:cs typeface="Poppins"/>
                <a:sym typeface="Poppins"/>
              </a:rPr>
              <a:t> not effectively support PDF and image-based document processing (OCR)</a:t>
            </a:r>
          </a:p>
          <a:p>
            <a:pPr algn="l" marL="539749" indent="-269875" lvl="1">
              <a:lnSpc>
                <a:spcPts val="3499"/>
              </a:lnSpc>
              <a:buFont typeface="Arial"/>
              <a:buChar char="•"/>
            </a:pPr>
            <a:r>
              <a:rPr lang="en-US" sz="2499">
                <a:solidFill>
                  <a:srgbClr val="000000"/>
                </a:solidFill>
                <a:latin typeface="Poppins"/>
                <a:ea typeface="Poppins"/>
                <a:cs typeface="Poppins"/>
                <a:sym typeface="Poppins"/>
              </a:rPr>
              <a:t>Limited ability to provide structured summaries like page-wise and final summaries</a:t>
            </a:r>
          </a:p>
        </p:txBody>
      </p:sp>
      <p:sp>
        <p:nvSpPr>
          <p:cNvPr name="TextBox 4" id="4"/>
          <p:cNvSpPr txBox="true"/>
          <p:nvPr/>
        </p:nvSpPr>
        <p:spPr>
          <a:xfrm rot="0">
            <a:off x="968640" y="6897187"/>
            <a:ext cx="16202175" cy="3489730"/>
          </a:xfrm>
          <a:prstGeom prst="rect">
            <a:avLst/>
          </a:prstGeom>
        </p:spPr>
        <p:txBody>
          <a:bodyPr anchor="t" rtlCol="false" tIns="0" lIns="0" bIns="0" rIns="0">
            <a:spAutoFit/>
          </a:bodyPr>
          <a:lstStyle/>
          <a:p>
            <a:pPr algn="l">
              <a:lnSpc>
                <a:spcPts val="3499"/>
              </a:lnSpc>
            </a:pPr>
            <a:r>
              <a:rPr lang="en-US" sz="2499" b="true">
                <a:solidFill>
                  <a:srgbClr val="000000"/>
                </a:solidFill>
                <a:latin typeface="Canva Sans Bold"/>
                <a:ea typeface="Canva Sans Bold"/>
                <a:cs typeface="Canva Sans Bold"/>
                <a:sym typeface="Canva Sans Bold"/>
              </a:rPr>
              <a:t>Proposed System (Our Work)</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Introduces a Cognitive </a:t>
            </a:r>
            <a:r>
              <a:rPr lang="en-US" sz="2499">
                <a:solidFill>
                  <a:srgbClr val="000000"/>
                </a:solidFill>
                <a:latin typeface="Canva Sans"/>
                <a:ea typeface="Canva Sans"/>
                <a:cs typeface="Canva Sans"/>
                <a:sym typeface="Canva Sans"/>
              </a:rPr>
              <a:t>AI-Based Text Summarization System with visual insight extraction</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Supports multi-format inputs: PDF, images, and text .Uses PDF.js and OCR techniques for accurate text extraction. Applies frequency-based summarization for efficient and interpretable results</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Generates: Page-wise summaries &amp; Final comprehensive summary</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Provides structured output (Overview, Methodology, Results, Conclusion)</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Designed as a lightweight and user-friendly web application</a:t>
            </a:r>
          </a:p>
          <a:p>
            <a:pPr algn="l">
              <a:lnSpc>
                <a:spcPts val="3499"/>
              </a:lnSpc>
            </a:p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893686" y="523914"/>
            <a:ext cx="6500629" cy="730250"/>
          </a:xfrm>
          <a:prstGeom prst="rect">
            <a:avLst/>
          </a:prstGeom>
        </p:spPr>
        <p:txBody>
          <a:bodyPr anchor="t" rtlCol="false" tIns="0" lIns="0" bIns="0" rIns="0">
            <a:spAutoFit/>
          </a:bodyPr>
          <a:lstStyle/>
          <a:p>
            <a:pPr algn="just">
              <a:lnSpc>
                <a:spcPts val="5650"/>
              </a:lnSpc>
            </a:pPr>
            <a:r>
              <a:rPr lang="en-US" b="true" sz="5000">
                <a:solidFill>
                  <a:srgbClr val="000000"/>
                </a:solidFill>
                <a:latin typeface="Glacial Indifference Bold"/>
                <a:ea typeface="Glacial Indifference Bold"/>
                <a:cs typeface="Glacial Indifference Bold"/>
                <a:sym typeface="Glacial Indifference Bold"/>
              </a:rPr>
              <a:t>P</a:t>
            </a:r>
            <a:r>
              <a:rPr lang="en-US" b="true" sz="5000">
                <a:solidFill>
                  <a:srgbClr val="000000"/>
                </a:solidFill>
                <a:latin typeface="Glacial Indifference Bold"/>
                <a:ea typeface="Glacial Indifference Bold"/>
                <a:cs typeface="Glacial Indifference Bold"/>
                <a:sym typeface="Glacial Indifference Bold"/>
              </a:rPr>
              <a:t>ROBLEM STATEMENT</a:t>
            </a:r>
          </a:p>
        </p:txBody>
      </p:sp>
      <p:sp>
        <p:nvSpPr>
          <p:cNvPr name="TextBox 3" id="3"/>
          <p:cNvSpPr txBox="true"/>
          <p:nvPr/>
        </p:nvSpPr>
        <p:spPr>
          <a:xfrm rot="0">
            <a:off x="1483200" y="1361922"/>
            <a:ext cx="15321599" cy="7890785"/>
          </a:xfrm>
          <a:prstGeom prst="rect">
            <a:avLst/>
          </a:prstGeom>
        </p:spPr>
        <p:txBody>
          <a:bodyPr anchor="t" rtlCol="false" tIns="0" lIns="0" bIns="0" rIns="0">
            <a:spAutoFit/>
          </a:bodyPr>
          <a:lstStyle/>
          <a:p>
            <a:pPr algn="just">
              <a:lnSpc>
                <a:spcPts val="3499"/>
              </a:lnSpc>
            </a:pPr>
            <a:r>
              <a:rPr lang="en-US" sz="2499">
                <a:solidFill>
                  <a:srgbClr val="000000"/>
                </a:solidFill>
                <a:latin typeface="Poppins"/>
                <a:ea typeface="Poppins"/>
                <a:cs typeface="Poppins"/>
                <a:sym typeface="Poppins"/>
              </a:rPr>
              <a:t>In th</a:t>
            </a:r>
            <a:r>
              <a:rPr lang="en-US" sz="2499">
                <a:solidFill>
                  <a:srgbClr val="000000"/>
                </a:solidFill>
                <a:latin typeface="Poppins"/>
                <a:ea typeface="Poppins"/>
                <a:cs typeface="Poppins"/>
                <a:sym typeface="Poppins"/>
              </a:rPr>
              <a:t>e current digital era, large volumes of textual data such as research papers, reports, and documents are generated continuously, making it difficult to extract meaningful information efficiently.</a:t>
            </a:r>
          </a:p>
          <a:p>
            <a:pPr algn="just">
              <a:lnSpc>
                <a:spcPts val="3499"/>
              </a:lnSpc>
            </a:pPr>
            <a:r>
              <a:rPr lang="en-US" b="true" sz="2499">
                <a:solidFill>
                  <a:srgbClr val="000000"/>
                </a:solidFill>
                <a:latin typeface="Poppins Bold"/>
                <a:ea typeface="Poppins Bold"/>
                <a:cs typeface="Poppins Bold"/>
                <a:sym typeface="Poppins Bold"/>
              </a:rPr>
              <a:t>Existing systems face several limitations: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Manual reading of documents is time-consuming and inefficient</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Traditional summarization methods fail to capture important and relevant information effectively</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Most systems support only single-format input and cannot handle PDFs and images together</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Lack of integration of OCR techniques for extracting text from scanned documents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Existing approaches do not provide structured summaries (page-wise and final summaries)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Limited capability to analyze visual elements such as figures and tables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Advanced AI-based systems require high computational resources and are complex to implement</a:t>
            </a:r>
          </a:p>
          <a:p>
            <a:pPr algn="just">
              <a:lnSpc>
                <a:spcPts val="3499"/>
              </a:lnSpc>
            </a:pPr>
            <a:r>
              <a:rPr lang="en-US" sz="2499">
                <a:solidFill>
                  <a:srgbClr val="000000"/>
                </a:solidFill>
                <a:latin typeface="Poppins"/>
                <a:ea typeface="Poppins"/>
                <a:cs typeface="Poppins"/>
                <a:sym typeface="Poppins"/>
              </a:rPr>
              <a:t>Therefore, there is a need for a system that can efficiently process multi-format documents, generate accurate summaries, and provide visual insights to enhance document understanding.</a:t>
            </a:r>
          </a:p>
          <a:p>
            <a:pPr algn="just">
              <a:lnSpc>
                <a:spcPts val="3499"/>
              </a:lnSpc>
            </a:p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29479" y="1902385"/>
            <a:ext cx="5781151" cy="4385181"/>
          </a:xfrm>
          <a:prstGeom prst="rect">
            <a:avLst/>
          </a:prstGeom>
        </p:spPr>
        <p:txBody>
          <a:bodyPr anchor="t" rtlCol="false" tIns="0" lIns="0" bIns="0" rIns="0">
            <a:spAutoFit/>
          </a:bodyPr>
          <a:lstStyle/>
          <a:p>
            <a:pPr algn="just">
              <a:lnSpc>
                <a:spcPts val="3499"/>
              </a:lnSpc>
            </a:pPr>
            <a:r>
              <a:rPr lang="en-US" sz="2499" b="true">
                <a:solidFill>
                  <a:srgbClr val="000000"/>
                </a:solidFill>
                <a:latin typeface="Poppins Bold"/>
                <a:ea typeface="Poppins Bold"/>
                <a:cs typeface="Poppins Bold"/>
                <a:sym typeface="Poppins Bold"/>
              </a:rPr>
              <a:t>Hardware Requirements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Processor: Intel i3 or above</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RAM: 4 GB or above (8 GB recommended)</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Storage: Minimum 500 MB free space</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System Type: 64-bit system</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Internet: Required for loading libraries and execution</a:t>
            </a:r>
          </a:p>
          <a:p>
            <a:pPr algn="just">
              <a:lnSpc>
                <a:spcPts val="3499"/>
              </a:lnSpc>
            </a:pPr>
          </a:p>
        </p:txBody>
      </p:sp>
      <p:sp>
        <p:nvSpPr>
          <p:cNvPr name="TextBox 3" id="3"/>
          <p:cNvSpPr txBox="true"/>
          <p:nvPr/>
        </p:nvSpPr>
        <p:spPr>
          <a:xfrm rot="0">
            <a:off x="4120054" y="847693"/>
            <a:ext cx="10525490" cy="942772"/>
          </a:xfrm>
          <a:prstGeom prst="rect">
            <a:avLst/>
          </a:prstGeom>
        </p:spPr>
        <p:txBody>
          <a:bodyPr anchor="t" rtlCol="false" tIns="0" lIns="0" bIns="0" rIns="0">
            <a:spAutoFit/>
          </a:bodyPr>
          <a:lstStyle/>
          <a:p>
            <a:pPr algn="ctr">
              <a:lnSpc>
                <a:spcPts val="7231"/>
              </a:lnSpc>
            </a:pPr>
            <a:r>
              <a:rPr lang="en-US" b="true" sz="6399">
                <a:solidFill>
                  <a:srgbClr val="000000"/>
                </a:solidFill>
                <a:latin typeface="Glacial Indifference Bold"/>
                <a:ea typeface="Glacial Indifference Bold"/>
                <a:cs typeface="Glacial Indifference Bold"/>
                <a:sym typeface="Glacial Indifference Bold"/>
              </a:rPr>
              <a:t>SYSTEM REQUIREMENTS</a:t>
            </a:r>
          </a:p>
        </p:txBody>
      </p:sp>
      <p:sp>
        <p:nvSpPr>
          <p:cNvPr name="TextBox 4" id="4"/>
          <p:cNvSpPr txBox="true"/>
          <p:nvPr/>
        </p:nvSpPr>
        <p:spPr>
          <a:xfrm rot="0">
            <a:off x="8399980" y="1902385"/>
            <a:ext cx="8437409" cy="4385181"/>
          </a:xfrm>
          <a:prstGeom prst="rect">
            <a:avLst/>
          </a:prstGeom>
        </p:spPr>
        <p:txBody>
          <a:bodyPr anchor="t" rtlCol="false" tIns="0" lIns="0" bIns="0" rIns="0">
            <a:spAutoFit/>
          </a:bodyPr>
          <a:lstStyle/>
          <a:p>
            <a:pPr algn="l">
              <a:lnSpc>
                <a:spcPts val="3499"/>
              </a:lnSpc>
            </a:pPr>
            <a:r>
              <a:rPr lang="en-US" sz="2499" b="true">
                <a:solidFill>
                  <a:srgbClr val="000000"/>
                </a:solidFill>
                <a:latin typeface="Poppins Bold"/>
                <a:ea typeface="Poppins Bold"/>
                <a:cs typeface="Poppins Bold"/>
                <a:sym typeface="Poppins Bold"/>
              </a:rPr>
              <a:t>Software Requirements</a:t>
            </a:r>
          </a:p>
          <a:p>
            <a:pPr algn="l" marL="539749" indent="-269875" lvl="1">
              <a:lnSpc>
                <a:spcPts val="3499"/>
              </a:lnSpc>
              <a:buFont typeface="Arial"/>
              <a:buChar char="•"/>
            </a:pPr>
            <a:r>
              <a:rPr lang="en-US" sz="2499">
                <a:solidFill>
                  <a:srgbClr val="000000"/>
                </a:solidFill>
                <a:latin typeface="Poppins"/>
                <a:ea typeface="Poppins"/>
                <a:cs typeface="Poppins"/>
                <a:sym typeface="Poppins"/>
              </a:rPr>
              <a:t>Operating System: Windows / Linux / macOS</a:t>
            </a:r>
          </a:p>
          <a:p>
            <a:pPr algn="l" marL="539749" indent="-269875" lvl="1">
              <a:lnSpc>
                <a:spcPts val="3499"/>
              </a:lnSpc>
              <a:buFont typeface="Arial"/>
              <a:buChar char="•"/>
            </a:pPr>
            <a:r>
              <a:rPr lang="en-US" sz="2499">
                <a:solidFill>
                  <a:srgbClr val="000000"/>
                </a:solidFill>
                <a:latin typeface="Poppins"/>
                <a:ea typeface="Poppins"/>
                <a:cs typeface="Poppins"/>
                <a:sym typeface="Poppins"/>
              </a:rPr>
              <a:t>Programming Language: JavaScript</a:t>
            </a:r>
          </a:p>
          <a:p>
            <a:pPr algn="l" marL="539749" indent="-269875" lvl="1">
              <a:lnSpc>
                <a:spcPts val="3499"/>
              </a:lnSpc>
              <a:buFont typeface="Arial"/>
              <a:buChar char="•"/>
            </a:pPr>
            <a:r>
              <a:rPr lang="en-US" sz="2499">
                <a:solidFill>
                  <a:srgbClr val="000000"/>
                </a:solidFill>
                <a:latin typeface="Poppins"/>
                <a:ea typeface="Poppins"/>
                <a:cs typeface="Poppins"/>
                <a:sym typeface="Poppins"/>
              </a:rPr>
              <a:t>Technologies Used: HTML, CSS, JavaScript</a:t>
            </a:r>
          </a:p>
          <a:p>
            <a:pPr algn="l" marL="539749" indent="-269875" lvl="1">
              <a:lnSpc>
                <a:spcPts val="3499"/>
              </a:lnSpc>
              <a:buFont typeface="Arial"/>
              <a:buChar char="•"/>
            </a:pPr>
            <a:r>
              <a:rPr lang="en-US" sz="2499">
                <a:solidFill>
                  <a:srgbClr val="000000"/>
                </a:solidFill>
                <a:latin typeface="Poppins"/>
                <a:ea typeface="Poppins"/>
                <a:cs typeface="Poppins"/>
                <a:sym typeface="Poppins"/>
              </a:rPr>
              <a:t>Libraries &amp; Tools:</a:t>
            </a:r>
          </a:p>
          <a:p>
            <a:pPr algn="l" marL="1079499" indent="-359833" lvl="2">
              <a:lnSpc>
                <a:spcPts val="3499"/>
              </a:lnSpc>
              <a:buFont typeface="Arial"/>
              <a:buChar char="⚬"/>
            </a:pPr>
            <a:r>
              <a:rPr lang="en-US" sz="2499">
                <a:solidFill>
                  <a:srgbClr val="000000"/>
                </a:solidFill>
                <a:latin typeface="Poppins"/>
                <a:ea typeface="Poppins"/>
                <a:cs typeface="Poppins"/>
                <a:sym typeface="Poppins"/>
              </a:rPr>
              <a:t>PDF.js (for PDF text extraction)</a:t>
            </a:r>
          </a:p>
          <a:p>
            <a:pPr algn="l" marL="1079499" indent="-359833" lvl="2">
              <a:lnSpc>
                <a:spcPts val="3499"/>
              </a:lnSpc>
              <a:buFont typeface="Arial"/>
              <a:buChar char="⚬"/>
            </a:pPr>
            <a:r>
              <a:rPr lang="en-US" sz="2499">
                <a:solidFill>
                  <a:srgbClr val="000000"/>
                </a:solidFill>
                <a:latin typeface="Poppins"/>
                <a:ea typeface="Poppins"/>
                <a:cs typeface="Poppins"/>
                <a:sym typeface="Poppins"/>
              </a:rPr>
              <a:t>Tesseract.js (for OCR – image to text)</a:t>
            </a:r>
          </a:p>
          <a:p>
            <a:pPr algn="l" marL="539749" indent="-269875" lvl="1">
              <a:lnSpc>
                <a:spcPts val="3499"/>
              </a:lnSpc>
              <a:buFont typeface="Arial"/>
              <a:buChar char="•"/>
            </a:pPr>
            <a:r>
              <a:rPr lang="en-US" sz="2499">
                <a:solidFill>
                  <a:srgbClr val="000000"/>
                </a:solidFill>
                <a:latin typeface="Poppins"/>
                <a:ea typeface="Poppins"/>
                <a:cs typeface="Poppins"/>
                <a:sym typeface="Poppins"/>
              </a:rPr>
              <a:t>Development Tools: VS Code / Web Browser</a:t>
            </a:r>
          </a:p>
          <a:p>
            <a:pPr algn="l" marL="539749" indent="-269875" lvl="1">
              <a:lnSpc>
                <a:spcPts val="3499"/>
              </a:lnSpc>
              <a:buFont typeface="Arial"/>
              <a:buChar char="•"/>
            </a:pPr>
            <a:r>
              <a:rPr lang="en-US" sz="2499">
                <a:solidFill>
                  <a:srgbClr val="000000"/>
                </a:solidFill>
                <a:latin typeface="Poppins"/>
                <a:ea typeface="Poppins"/>
                <a:cs typeface="Poppins"/>
                <a:sym typeface="Poppins"/>
              </a:rPr>
              <a:t>Framework: Web-based Application</a:t>
            </a:r>
          </a:p>
          <a:p>
            <a:pPr algn="l">
              <a:lnSpc>
                <a:spcPts val="3499"/>
              </a:lnSpc>
            </a:pPr>
          </a:p>
        </p:txBody>
      </p:sp>
      <p:sp>
        <p:nvSpPr>
          <p:cNvPr name="TextBox 5" id="5"/>
          <p:cNvSpPr txBox="true"/>
          <p:nvPr/>
        </p:nvSpPr>
        <p:spPr>
          <a:xfrm rot="0">
            <a:off x="1028700" y="6757783"/>
            <a:ext cx="16061882" cy="879576"/>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Poppins"/>
                <a:ea typeface="Poppins"/>
                <a:cs typeface="Poppins"/>
                <a:sym typeface="Poppins"/>
              </a:rPr>
              <a:t>Functi</a:t>
            </a:r>
            <a:r>
              <a:rPr lang="en-US" sz="2499">
                <a:solidFill>
                  <a:srgbClr val="000000"/>
                </a:solidFill>
                <a:latin typeface="Poppins"/>
                <a:ea typeface="Poppins"/>
                <a:cs typeface="Poppins"/>
                <a:sym typeface="Poppins"/>
              </a:rPr>
              <a:t>onal requirements define what the AI Cognitive Summarizer does, while non-functional requirements define how efficiently, securely, and reliably it performs those tasks.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300663" y="677862"/>
            <a:ext cx="10759640" cy="730250"/>
          </a:xfrm>
          <a:prstGeom prst="rect">
            <a:avLst/>
          </a:prstGeom>
        </p:spPr>
        <p:txBody>
          <a:bodyPr anchor="t" rtlCol="false" tIns="0" lIns="0" bIns="0" rIns="0">
            <a:spAutoFit/>
          </a:bodyPr>
          <a:lstStyle/>
          <a:p>
            <a:pPr algn="just">
              <a:lnSpc>
                <a:spcPts val="5650"/>
              </a:lnSpc>
            </a:pPr>
            <a:r>
              <a:rPr lang="en-US" b="true" sz="5000">
                <a:solidFill>
                  <a:srgbClr val="000000"/>
                </a:solidFill>
                <a:latin typeface="Glacial Indifference Bold"/>
                <a:ea typeface="Glacial Indifference Bold"/>
                <a:cs typeface="Glacial Indifference Bold"/>
                <a:sym typeface="Glacial Indifference Bold"/>
              </a:rPr>
              <a:t>FEASIBILITY STUDY &amp; APPLICATIONS</a:t>
            </a:r>
          </a:p>
        </p:txBody>
      </p:sp>
      <p:sp>
        <p:nvSpPr>
          <p:cNvPr name="TextBox 3" id="3"/>
          <p:cNvSpPr txBox="true"/>
          <p:nvPr/>
        </p:nvSpPr>
        <p:spPr>
          <a:xfrm rot="0">
            <a:off x="1367127" y="1931866"/>
            <a:ext cx="8691383" cy="7452585"/>
          </a:xfrm>
          <a:prstGeom prst="rect">
            <a:avLst/>
          </a:prstGeom>
        </p:spPr>
        <p:txBody>
          <a:bodyPr anchor="t" rtlCol="false" tIns="0" lIns="0" bIns="0" rIns="0">
            <a:spAutoFit/>
          </a:bodyPr>
          <a:lstStyle/>
          <a:p>
            <a:pPr algn="just">
              <a:lnSpc>
                <a:spcPts val="3499"/>
              </a:lnSpc>
            </a:pPr>
            <a:r>
              <a:rPr lang="en-US" sz="2499" b="true">
                <a:solidFill>
                  <a:srgbClr val="000000"/>
                </a:solidFill>
                <a:latin typeface="Poppins Bold"/>
                <a:ea typeface="Poppins Bold"/>
                <a:cs typeface="Poppins Bold"/>
                <a:sym typeface="Poppins Bold"/>
              </a:rPr>
              <a:t>Feasibility Study</a:t>
            </a:r>
          </a:p>
          <a:p>
            <a:pPr algn="just">
              <a:lnSpc>
                <a:spcPts val="3499"/>
              </a:lnSpc>
            </a:pPr>
            <a:r>
              <a:rPr lang="en-US" sz="2499" b="true">
                <a:solidFill>
                  <a:srgbClr val="000000"/>
                </a:solidFill>
                <a:latin typeface="Poppins Bold"/>
                <a:ea typeface="Poppins Bold"/>
                <a:cs typeface="Poppins Bold"/>
                <a:sym typeface="Poppins Bold"/>
              </a:rPr>
              <a:t>1. </a:t>
            </a:r>
            <a:r>
              <a:rPr lang="en-US" b="true" sz="2499">
                <a:solidFill>
                  <a:srgbClr val="000000"/>
                </a:solidFill>
                <a:latin typeface="Poppins Bold"/>
                <a:ea typeface="Poppins Bold"/>
                <a:cs typeface="Poppins Bold"/>
                <a:sym typeface="Poppins Bold"/>
              </a:rPr>
              <a:t>Technical Feasibility</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Uses lightweight technologies like JavaScript, PDF.js, and Tesseract.js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No need for heavy GPU or complex deep learning models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Easy to implement as a web-based application</a:t>
            </a:r>
          </a:p>
          <a:p>
            <a:pPr algn="just">
              <a:lnSpc>
                <a:spcPts val="3499"/>
              </a:lnSpc>
            </a:pPr>
            <a:r>
              <a:rPr lang="en-US" b="true" sz="2499">
                <a:solidFill>
                  <a:srgbClr val="000000"/>
                </a:solidFill>
                <a:latin typeface="Poppins Bold"/>
                <a:ea typeface="Poppins Bold"/>
                <a:cs typeface="Poppins Bold"/>
                <a:sym typeface="Poppins Bold"/>
              </a:rPr>
              <a:t>2. Economic Feasibility</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Uses open-source tools and libraries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Low development and maintenance cost</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No expensive infrastructure required</a:t>
            </a:r>
          </a:p>
          <a:p>
            <a:pPr algn="just">
              <a:lnSpc>
                <a:spcPts val="3499"/>
              </a:lnSpc>
            </a:pPr>
            <a:r>
              <a:rPr lang="en-US" b="true" sz="2499">
                <a:solidFill>
                  <a:srgbClr val="000000"/>
                </a:solidFill>
                <a:latin typeface="Poppins Bold"/>
                <a:ea typeface="Poppins Bold"/>
                <a:cs typeface="Poppins Bold"/>
                <a:sym typeface="Poppins Bold"/>
              </a:rPr>
              <a:t>3. Operational Feasibility</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Simple and user-friendly interface</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Requires minimal technical knowledge to use</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Suitable for students, researchers, and professionals</a:t>
            </a:r>
          </a:p>
          <a:p>
            <a:pPr algn="just">
              <a:lnSpc>
                <a:spcPts val="3499"/>
              </a:lnSpc>
            </a:pPr>
          </a:p>
        </p:txBody>
      </p:sp>
      <p:sp>
        <p:nvSpPr>
          <p:cNvPr name="TextBox 4" id="4"/>
          <p:cNvSpPr txBox="true"/>
          <p:nvPr/>
        </p:nvSpPr>
        <p:spPr>
          <a:xfrm rot="0">
            <a:off x="10610435" y="1950916"/>
            <a:ext cx="6648865" cy="4804331"/>
          </a:xfrm>
          <a:prstGeom prst="rect">
            <a:avLst/>
          </a:prstGeom>
        </p:spPr>
        <p:txBody>
          <a:bodyPr anchor="t" rtlCol="false" tIns="0" lIns="0" bIns="0" rIns="0">
            <a:spAutoFit/>
          </a:bodyPr>
          <a:lstStyle/>
          <a:p>
            <a:pPr algn="l">
              <a:lnSpc>
                <a:spcPts val="3499"/>
              </a:lnSpc>
            </a:pPr>
            <a:r>
              <a:rPr lang="en-US" b="true" sz="2499">
                <a:solidFill>
                  <a:srgbClr val="000000"/>
                </a:solidFill>
                <a:latin typeface="Canva Sans Bold"/>
                <a:ea typeface="Canva Sans Bold"/>
                <a:cs typeface="Canva Sans Bold"/>
                <a:sym typeface="Canva Sans Bold"/>
              </a:rPr>
              <a:t>Applications</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Research Paper Summarization</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Report and Document Analysis</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Educational Content Summarization</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Business Document Processing</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News and Article Summarization</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Image-based Text Extraction and Analysis</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Automated Document Understanding Systems</a:t>
            </a:r>
          </a:p>
          <a:p>
            <a:pPr algn="l">
              <a:lnSpc>
                <a:spcPts val="3499"/>
              </a:lnSpc>
            </a:pP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300663" y="677862"/>
            <a:ext cx="10759640" cy="730250"/>
          </a:xfrm>
          <a:prstGeom prst="rect">
            <a:avLst/>
          </a:prstGeom>
        </p:spPr>
        <p:txBody>
          <a:bodyPr anchor="t" rtlCol="false" tIns="0" lIns="0" bIns="0" rIns="0">
            <a:spAutoFit/>
          </a:bodyPr>
          <a:lstStyle/>
          <a:p>
            <a:pPr algn="just">
              <a:lnSpc>
                <a:spcPts val="5650"/>
              </a:lnSpc>
            </a:pPr>
            <a:r>
              <a:rPr lang="en-US" b="true" sz="5000">
                <a:solidFill>
                  <a:srgbClr val="000000"/>
                </a:solidFill>
                <a:latin typeface="Glacial Indifference Bold"/>
                <a:ea typeface="Glacial Indifference Bold"/>
                <a:cs typeface="Glacial Indifference Bold"/>
                <a:sym typeface="Glacial Indifference Bold"/>
              </a:rPr>
              <a:t>SDLC – R</a:t>
            </a:r>
            <a:r>
              <a:rPr lang="en-US" b="true" sz="5000">
                <a:solidFill>
                  <a:srgbClr val="000000"/>
                </a:solidFill>
                <a:latin typeface="Glacial Indifference Bold"/>
                <a:ea typeface="Glacial Indifference Bold"/>
                <a:cs typeface="Glacial Indifference Bold"/>
                <a:sym typeface="Glacial Indifference Bold"/>
              </a:rPr>
              <a:t>EQUIREMENT ANALYSIS</a:t>
            </a:r>
          </a:p>
        </p:txBody>
      </p:sp>
      <p:sp>
        <p:nvSpPr>
          <p:cNvPr name="TextBox 3" id="3"/>
          <p:cNvSpPr txBox="true"/>
          <p:nvPr/>
        </p:nvSpPr>
        <p:spPr>
          <a:xfrm rot="0">
            <a:off x="1367127" y="1621899"/>
            <a:ext cx="8691383" cy="8328986"/>
          </a:xfrm>
          <a:prstGeom prst="rect">
            <a:avLst/>
          </a:prstGeom>
        </p:spPr>
        <p:txBody>
          <a:bodyPr anchor="t" rtlCol="false" tIns="0" lIns="0" bIns="0" rIns="0">
            <a:spAutoFit/>
          </a:bodyPr>
          <a:lstStyle/>
          <a:p>
            <a:pPr algn="just">
              <a:lnSpc>
                <a:spcPts val="3499"/>
              </a:lnSpc>
            </a:pPr>
            <a:r>
              <a:rPr lang="en-US" sz="2499" b="true">
                <a:solidFill>
                  <a:srgbClr val="000000"/>
                </a:solidFill>
                <a:latin typeface="Poppins Bold"/>
                <a:ea typeface="Poppins Bold"/>
                <a:cs typeface="Poppins Bold"/>
                <a:sym typeface="Poppins Bold"/>
              </a:rPr>
              <a:t>Fun</a:t>
            </a:r>
            <a:r>
              <a:rPr lang="en-US" b="true" sz="2499">
                <a:solidFill>
                  <a:srgbClr val="000000"/>
                </a:solidFill>
                <a:latin typeface="Poppins Bold"/>
                <a:ea typeface="Poppins Bold"/>
                <a:cs typeface="Poppins Bold"/>
                <a:sym typeface="Poppins Bold"/>
              </a:rPr>
              <a:t>ctional Requirements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The system should allow users to upload documents (PDF and images)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The system should identify input type (PDF or image)</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The system should extract text using:</a:t>
            </a:r>
          </a:p>
          <a:p>
            <a:pPr algn="just" marL="1079499" indent="-359833" lvl="2">
              <a:lnSpc>
                <a:spcPts val="3499"/>
              </a:lnSpc>
              <a:buFont typeface="Arial"/>
              <a:buChar char="⚬"/>
            </a:pPr>
            <a:r>
              <a:rPr lang="en-US" sz="2499">
                <a:solidFill>
                  <a:srgbClr val="000000"/>
                </a:solidFill>
                <a:latin typeface="Poppins"/>
                <a:ea typeface="Poppins"/>
                <a:cs typeface="Poppins"/>
                <a:sym typeface="Poppins"/>
              </a:rPr>
              <a:t>PDF.js for PDF files</a:t>
            </a:r>
          </a:p>
          <a:p>
            <a:pPr algn="just" marL="1079499" indent="-359833" lvl="2">
              <a:lnSpc>
                <a:spcPts val="3499"/>
              </a:lnSpc>
              <a:buFont typeface="Arial"/>
              <a:buChar char="⚬"/>
            </a:pPr>
            <a:r>
              <a:rPr lang="en-US" sz="2499">
                <a:solidFill>
                  <a:srgbClr val="000000"/>
                </a:solidFill>
                <a:latin typeface="Poppins"/>
                <a:ea typeface="Poppins"/>
                <a:cs typeface="Poppins"/>
                <a:sym typeface="Poppins"/>
              </a:rPr>
              <a:t>OCR (Tesser</a:t>
            </a:r>
            <a:r>
              <a:rPr lang="en-US" sz="2499">
                <a:solidFill>
                  <a:srgbClr val="000000"/>
                </a:solidFill>
                <a:latin typeface="Poppins"/>
                <a:ea typeface="Poppins"/>
                <a:cs typeface="Poppins"/>
                <a:sym typeface="Poppins"/>
              </a:rPr>
              <a:t>act.js) for images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The system should perform text preprocessing (cleaning, normalization)</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The system should generate:</a:t>
            </a:r>
          </a:p>
          <a:p>
            <a:pPr algn="just" marL="1079499" indent="-359833" lvl="2">
              <a:lnSpc>
                <a:spcPts val="3499"/>
              </a:lnSpc>
              <a:buFont typeface="Arial"/>
              <a:buChar char="⚬"/>
            </a:pPr>
            <a:r>
              <a:rPr lang="en-US" sz="2499">
                <a:solidFill>
                  <a:srgbClr val="000000"/>
                </a:solidFill>
                <a:latin typeface="Poppins"/>
                <a:ea typeface="Poppins"/>
                <a:cs typeface="Poppins"/>
                <a:sym typeface="Poppins"/>
              </a:rPr>
              <a:t>Page-</a:t>
            </a:r>
            <a:r>
              <a:rPr lang="en-US" sz="2499">
                <a:solidFill>
                  <a:srgbClr val="000000"/>
                </a:solidFill>
                <a:latin typeface="Poppins"/>
                <a:ea typeface="Poppins"/>
                <a:cs typeface="Poppins"/>
                <a:sym typeface="Poppins"/>
              </a:rPr>
              <a:t>wise summaries</a:t>
            </a:r>
          </a:p>
          <a:p>
            <a:pPr algn="just" marL="1079499" indent="-359833" lvl="2">
              <a:lnSpc>
                <a:spcPts val="3499"/>
              </a:lnSpc>
              <a:buFont typeface="Arial"/>
              <a:buChar char="⚬"/>
            </a:pPr>
            <a:r>
              <a:rPr lang="en-US" sz="2499">
                <a:solidFill>
                  <a:srgbClr val="000000"/>
                </a:solidFill>
                <a:latin typeface="Poppins"/>
                <a:ea typeface="Poppins"/>
                <a:cs typeface="Poppins"/>
                <a:sym typeface="Poppins"/>
              </a:rPr>
              <a:t>Final comprehensive summary</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The system should detect figures and tables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Th</a:t>
            </a:r>
            <a:r>
              <a:rPr lang="en-US" sz="2499">
                <a:solidFill>
                  <a:srgbClr val="000000"/>
                </a:solidFill>
                <a:latin typeface="Poppins"/>
                <a:ea typeface="Poppins"/>
                <a:cs typeface="Poppins"/>
                <a:sym typeface="Poppins"/>
              </a:rPr>
              <a:t>e system should provide visual insights and explanations</a:t>
            </a:r>
          </a:p>
          <a:p>
            <a:pPr algn="just" marL="539749" indent="-269875" lvl="1">
              <a:lnSpc>
                <a:spcPts val="3499"/>
              </a:lnSpc>
              <a:buFont typeface="Arial"/>
              <a:buChar char="•"/>
            </a:pPr>
            <a:r>
              <a:rPr lang="en-US" sz="2499">
                <a:solidFill>
                  <a:srgbClr val="000000"/>
                </a:solidFill>
                <a:latin typeface="Poppins"/>
                <a:ea typeface="Poppins"/>
                <a:cs typeface="Poppins"/>
                <a:sym typeface="Poppins"/>
              </a:rPr>
              <a:t>The system should display results through a web interface</a:t>
            </a:r>
          </a:p>
          <a:p>
            <a:pPr algn="just">
              <a:lnSpc>
                <a:spcPts val="3499"/>
              </a:lnSpc>
            </a:pPr>
          </a:p>
        </p:txBody>
      </p:sp>
      <p:sp>
        <p:nvSpPr>
          <p:cNvPr name="TextBox 4" id="4"/>
          <p:cNvSpPr txBox="true"/>
          <p:nvPr/>
        </p:nvSpPr>
        <p:spPr>
          <a:xfrm rot="0">
            <a:off x="10610435" y="1640949"/>
            <a:ext cx="6648865" cy="5680733"/>
          </a:xfrm>
          <a:prstGeom prst="rect">
            <a:avLst/>
          </a:prstGeom>
        </p:spPr>
        <p:txBody>
          <a:bodyPr anchor="t" rtlCol="false" tIns="0" lIns="0" bIns="0" rIns="0">
            <a:spAutoFit/>
          </a:bodyPr>
          <a:lstStyle/>
          <a:p>
            <a:pPr algn="l">
              <a:lnSpc>
                <a:spcPts val="3499"/>
              </a:lnSpc>
            </a:pPr>
            <a:r>
              <a:rPr lang="en-US" sz="2499" b="true">
                <a:solidFill>
                  <a:srgbClr val="000000"/>
                </a:solidFill>
                <a:latin typeface="Canva Sans Bold"/>
                <a:ea typeface="Canva Sans Bold"/>
                <a:cs typeface="Canva Sans Bold"/>
                <a:sym typeface="Canva Sans Bold"/>
              </a:rPr>
              <a:t>Non-Fun</a:t>
            </a:r>
            <a:r>
              <a:rPr lang="en-US" b="true" sz="2499">
                <a:solidFill>
                  <a:srgbClr val="000000"/>
                </a:solidFill>
                <a:latin typeface="Canva Sans Bold"/>
                <a:ea typeface="Canva Sans Bold"/>
                <a:cs typeface="Canva Sans Bold"/>
                <a:sym typeface="Canva Sans Bold"/>
              </a:rPr>
              <a:t>ctional Requirements</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Th</a:t>
            </a:r>
            <a:r>
              <a:rPr lang="en-US" sz="2499">
                <a:solidFill>
                  <a:srgbClr val="000000"/>
                </a:solidFill>
                <a:latin typeface="Canva Sans"/>
                <a:ea typeface="Canva Sans"/>
                <a:cs typeface="Canva Sans"/>
                <a:sym typeface="Canva Sans"/>
              </a:rPr>
              <a:t>e system should be fast and efficient</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The system should be lightweight and low-resource consuming</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The system should provide accurate and reliable summaries</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The syste</a:t>
            </a:r>
            <a:r>
              <a:rPr lang="en-US" sz="2499">
                <a:solidFill>
                  <a:srgbClr val="000000"/>
                </a:solidFill>
                <a:latin typeface="Canva Sans"/>
                <a:ea typeface="Canva Sans"/>
                <a:cs typeface="Canva Sans"/>
                <a:sym typeface="Canva Sans"/>
              </a:rPr>
              <a:t>m should have a user-friendly interface</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The system should be scalable and easy to maintain</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The system should ensure proper handling of different document formats</a:t>
            </a:r>
          </a:p>
          <a:p>
            <a:pPr algn="l">
              <a:lnSpc>
                <a:spcPts val="349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4094" y="1408113"/>
            <a:ext cx="4834127" cy="8436470"/>
          </a:xfrm>
          <a:custGeom>
            <a:avLst/>
            <a:gdLst/>
            <a:ahLst/>
            <a:cxnLst/>
            <a:rect r="r" b="b" t="t" l="l"/>
            <a:pathLst>
              <a:path h="8436470" w="4834127">
                <a:moveTo>
                  <a:pt x="0" y="0"/>
                </a:moveTo>
                <a:lnTo>
                  <a:pt x="4834127" y="0"/>
                </a:lnTo>
                <a:lnTo>
                  <a:pt x="4834127" y="8436469"/>
                </a:lnTo>
                <a:lnTo>
                  <a:pt x="0" y="8436469"/>
                </a:lnTo>
                <a:lnTo>
                  <a:pt x="0" y="0"/>
                </a:lnTo>
                <a:close/>
              </a:path>
            </a:pathLst>
          </a:custGeom>
          <a:blipFill>
            <a:blip r:embed="rId2"/>
            <a:stretch>
              <a:fillRect l="0" t="0" r="-566" b="0"/>
            </a:stretch>
          </a:blipFill>
        </p:spPr>
      </p:sp>
      <p:sp>
        <p:nvSpPr>
          <p:cNvPr name="TextBox 3" id="3"/>
          <p:cNvSpPr txBox="true"/>
          <p:nvPr/>
        </p:nvSpPr>
        <p:spPr>
          <a:xfrm rot="0">
            <a:off x="5588221" y="510957"/>
            <a:ext cx="4488754" cy="730250"/>
          </a:xfrm>
          <a:prstGeom prst="rect">
            <a:avLst/>
          </a:prstGeom>
        </p:spPr>
        <p:txBody>
          <a:bodyPr anchor="t" rtlCol="false" tIns="0" lIns="0" bIns="0" rIns="0">
            <a:spAutoFit/>
          </a:bodyPr>
          <a:lstStyle/>
          <a:p>
            <a:pPr algn="just">
              <a:lnSpc>
                <a:spcPts val="5650"/>
              </a:lnSpc>
            </a:pPr>
            <a:r>
              <a:rPr lang="en-US" b="true" sz="5000">
                <a:solidFill>
                  <a:srgbClr val="000000"/>
                </a:solidFill>
                <a:latin typeface="Glacial Indifference Bold"/>
                <a:ea typeface="Glacial Indifference Bold"/>
                <a:cs typeface="Glacial Indifference Bold"/>
                <a:sym typeface="Glacial Indifference Bold"/>
              </a:rPr>
              <a:t>SDLC – DESIGN </a:t>
            </a:r>
          </a:p>
        </p:txBody>
      </p:sp>
      <p:sp>
        <p:nvSpPr>
          <p:cNvPr name="TextBox 4" id="4"/>
          <p:cNvSpPr txBox="true"/>
          <p:nvPr/>
        </p:nvSpPr>
        <p:spPr>
          <a:xfrm rot="0">
            <a:off x="5129317" y="1360488"/>
            <a:ext cx="12129983" cy="8748137"/>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The propose</a:t>
            </a:r>
            <a:r>
              <a:rPr lang="en-US" sz="2499">
                <a:solidFill>
                  <a:srgbClr val="000000"/>
                </a:solidFill>
                <a:latin typeface="Canva Sans"/>
                <a:ea typeface="Canva Sans"/>
                <a:cs typeface="Canva Sans"/>
                <a:sym typeface="Canva Sans"/>
              </a:rPr>
              <a:t>d system follows a modular architecture that processes documents through multiple stages to generate meaningful summaries and visual insights.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Initially, the user uploads a document (PDF or image) through the web interface. The system then performs file type detection to determine the appropriate processing method.</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In the text extraction module, PDF files are processed using PDF.js, while image-based documents are processed using OCR (Tesseract.js) to extract textual content.</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The extracted text is passed to the preprocessing module, where unwanted data such as noise, repeated headers, and irrelevant content are removed, and the text is normalized.</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Next, the summarization module applies a frequency-based approach involving sentence segmentation, word frequency calculation, and sentence scoring to generate page-wise summaries and a final summary.</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Simultaneously, the visual analysis module detects figures and tables, extracts captions, and generates meaningful insights to enhance document understanding.</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Finally, the output module combines summaries and visual insights and presents them in a structured format through the user interface.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6947" y="1408113"/>
            <a:ext cx="4260610" cy="8700512"/>
          </a:xfrm>
          <a:custGeom>
            <a:avLst/>
            <a:gdLst/>
            <a:ahLst/>
            <a:cxnLst/>
            <a:rect r="r" b="b" t="t" l="l"/>
            <a:pathLst>
              <a:path h="8700512" w="4260610">
                <a:moveTo>
                  <a:pt x="0" y="0"/>
                </a:moveTo>
                <a:lnTo>
                  <a:pt x="4260609" y="0"/>
                </a:lnTo>
                <a:lnTo>
                  <a:pt x="4260609" y="8700511"/>
                </a:lnTo>
                <a:lnTo>
                  <a:pt x="0" y="8700511"/>
                </a:lnTo>
                <a:lnTo>
                  <a:pt x="0" y="0"/>
                </a:lnTo>
                <a:close/>
              </a:path>
            </a:pathLst>
          </a:custGeom>
          <a:blipFill>
            <a:blip r:embed="rId2"/>
            <a:stretch>
              <a:fillRect l="0" t="-297" r="0" b="-297"/>
            </a:stretch>
          </a:blipFill>
        </p:spPr>
      </p:sp>
      <p:sp>
        <p:nvSpPr>
          <p:cNvPr name="TextBox 3" id="3"/>
          <p:cNvSpPr txBox="true"/>
          <p:nvPr/>
        </p:nvSpPr>
        <p:spPr>
          <a:xfrm rot="0">
            <a:off x="5373628" y="677862"/>
            <a:ext cx="7540744" cy="730250"/>
          </a:xfrm>
          <a:prstGeom prst="rect">
            <a:avLst/>
          </a:prstGeom>
        </p:spPr>
        <p:txBody>
          <a:bodyPr anchor="t" rtlCol="false" tIns="0" lIns="0" bIns="0" rIns="0">
            <a:spAutoFit/>
          </a:bodyPr>
          <a:lstStyle/>
          <a:p>
            <a:pPr algn="just">
              <a:lnSpc>
                <a:spcPts val="5650"/>
              </a:lnSpc>
            </a:pPr>
            <a:r>
              <a:rPr lang="en-US" b="true" sz="5000">
                <a:solidFill>
                  <a:srgbClr val="000000"/>
                </a:solidFill>
                <a:latin typeface="Glacial Indifference Bold"/>
                <a:ea typeface="Glacial Indifference Bold"/>
                <a:cs typeface="Glacial Indifference Bold"/>
                <a:sym typeface="Glacial Indifference Bold"/>
              </a:rPr>
              <a:t>SDLC – IMPLEMENTATION</a:t>
            </a:r>
          </a:p>
        </p:txBody>
      </p:sp>
      <p:sp>
        <p:nvSpPr>
          <p:cNvPr name="TextBox 4" id="4"/>
          <p:cNvSpPr txBox="true"/>
          <p:nvPr/>
        </p:nvSpPr>
        <p:spPr>
          <a:xfrm rot="0">
            <a:off x="5747556" y="1360488"/>
            <a:ext cx="11439733" cy="8748137"/>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The im</a:t>
            </a:r>
            <a:r>
              <a:rPr lang="en-US" sz="2499">
                <a:solidFill>
                  <a:srgbClr val="000000"/>
                </a:solidFill>
                <a:latin typeface="Canva Sans"/>
                <a:ea typeface="Canva Sans"/>
                <a:cs typeface="Canva Sans"/>
                <a:sym typeface="Canva Sans"/>
              </a:rPr>
              <a:t>plementation of the system follows a step-by-step methodology to process documents and generate accurate summaries along with visual insights.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Initially, the user uploads a document in the form of a PDF, image, or text. The system identifies the file type and applies the appropriate text extraction technique, using PDF.js for PDF files and OCR (Tesseract.js) for images.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The extracted text undergoes preprocessing, where noise such as repeated headers and irrelevant content is removed, and the text is normalized.</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Next, the system performs sentence segmentation, calculates word frequency, and assigns scores to sentences based on importance. Using this, it generates page-wise summaries and a final comprehensive summary.</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In parallel, the system performs visual content analysis by detecting figures and tables, extracting captions, and generating meaningful insights.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Finally, the system organizes the output into structured sections and displays the summaries and visual insights through the user interface.</a:t>
            </a:r>
          </a:p>
          <a:p>
            <a:pPr algn="just">
              <a:lnSpc>
                <a:spcPts val="3499"/>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493106" y="677862"/>
            <a:ext cx="8448663" cy="730250"/>
          </a:xfrm>
          <a:prstGeom prst="rect">
            <a:avLst/>
          </a:prstGeom>
        </p:spPr>
        <p:txBody>
          <a:bodyPr anchor="t" rtlCol="false" tIns="0" lIns="0" bIns="0" rIns="0">
            <a:spAutoFit/>
          </a:bodyPr>
          <a:lstStyle/>
          <a:p>
            <a:pPr algn="l">
              <a:lnSpc>
                <a:spcPts val="5650"/>
              </a:lnSpc>
            </a:pPr>
            <a:r>
              <a:rPr lang="en-US" b="true" sz="5000">
                <a:solidFill>
                  <a:srgbClr val="000000"/>
                </a:solidFill>
                <a:latin typeface="Glacial Indifference Bold"/>
                <a:ea typeface="Glacial Indifference Bold"/>
                <a:cs typeface="Glacial Indifference Bold"/>
                <a:sym typeface="Glacial Indifference Bold"/>
              </a:rPr>
              <a:t>SDLC – TESTING &amp; RESULTS</a:t>
            </a:r>
          </a:p>
        </p:txBody>
      </p:sp>
      <p:sp>
        <p:nvSpPr>
          <p:cNvPr name="TextBox 3" id="3"/>
          <p:cNvSpPr txBox="true"/>
          <p:nvPr/>
        </p:nvSpPr>
        <p:spPr>
          <a:xfrm rot="0">
            <a:off x="769295" y="1360488"/>
            <a:ext cx="8711392" cy="8748137"/>
          </a:xfrm>
          <a:prstGeom prst="rect">
            <a:avLst/>
          </a:prstGeom>
        </p:spPr>
        <p:txBody>
          <a:bodyPr anchor="t" rtlCol="false" tIns="0" lIns="0" bIns="0" rIns="0">
            <a:spAutoFit/>
          </a:bodyPr>
          <a:lstStyle/>
          <a:p>
            <a:pPr algn="just">
              <a:lnSpc>
                <a:spcPts val="3499"/>
              </a:lnSpc>
            </a:pPr>
            <a:r>
              <a:rPr lang="en-US" sz="2499" b="true">
                <a:solidFill>
                  <a:srgbClr val="000000"/>
                </a:solidFill>
                <a:latin typeface="Canva Sans Bold"/>
                <a:ea typeface="Canva Sans Bold"/>
                <a:cs typeface="Canva Sans Bold"/>
                <a:sym typeface="Canva Sans Bold"/>
              </a:rPr>
              <a:t>Tes</a:t>
            </a:r>
            <a:r>
              <a:rPr lang="en-US" b="true" sz="2499">
                <a:solidFill>
                  <a:srgbClr val="000000"/>
                </a:solidFill>
                <a:latin typeface="Canva Sans Bold"/>
                <a:ea typeface="Canva Sans Bold"/>
                <a:cs typeface="Canva Sans Bold"/>
                <a:sym typeface="Canva Sans Bold"/>
              </a:rPr>
              <a:t>ting Approach</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The system was tested using multiple types of documents to evaluate its performance under different scenarios: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Text-rich documents (research papers, reports)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Moderate content documents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Image-based documents (scanned files using OCR)</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Visual-dominant pages (figures, tables, diagrams)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Noisy data (repeated headers, irrelevant content)</a:t>
            </a:r>
          </a:p>
          <a:p>
            <a:pPr algn="just">
              <a:lnSpc>
                <a:spcPts val="3499"/>
              </a:lnSpc>
            </a:pPr>
            <a:r>
              <a:rPr lang="en-US" b="true" sz="2499">
                <a:solidFill>
                  <a:srgbClr val="000000"/>
                </a:solidFill>
                <a:latin typeface="Canva Sans Bold"/>
                <a:ea typeface="Canva Sans Bold"/>
                <a:cs typeface="Canva Sans Bold"/>
                <a:sym typeface="Canva Sans Bold"/>
              </a:rPr>
              <a:t>Test Scenarios &amp; Observations</a:t>
            </a:r>
          </a:p>
          <a:p>
            <a:pPr algn="just" marL="539749" indent="-269875" lvl="1">
              <a:lnSpc>
                <a:spcPts val="3499"/>
              </a:lnSpc>
              <a:buFont typeface="Arial"/>
              <a:buChar char="•"/>
            </a:pPr>
            <a:r>
              <a:rPr lang="en-US" b="true" sz="2499">
                <a:solidFill>
                  <a:srgbClr val="000000"/>
                </a:solidFill>
                <a:latin typeface="Canva Sans Bold"/>
                <a:ea typeface="Canva Sans Bold"/>
                <a:cs typeface="Canva Sans Bold"/>
                <a:sym typeface="Canva Sans Bold"/>
              </a:rPr>
              <a:t>Text-rich pages:</a:t>
            </a:r>
            <a:r>
              <a:rPr lang="en-US" sz="2499">
                <a:solidFill>
                  <a:srgbClr val="000000"/>
                </a:solidFill>
                <a:latin typeface="Canva Sans"/>
                <a:ea typeface="Canva Sans"/>
                <a:cs typeface="Canva Sans"/>
                <a:sym typeface="Canva Sans"/>
              </a:rPr>
              <a:t> Generated clear and accurate summaries with important information retained</a:t>
            </a:r>
          </a:p>
          <a:p>
            <a:pPr algn="just" marL="539749" indent="-269875" lvl="1">
              <a:lnSpc>
                <a:spcPts val="3499"/>
              </a:lnSpc>
              <a:buFont typeface="Arial"/>
              <a:buChar char="•"/>
            </a:pPr>
            <a:r>
              <a:rPr lang="en-US" b="true" sz="2499">
                <a:solidFill>
                  <a:srgbClr val="000000"/>
                </a:solidFill>
                <a:latin typeface="Canva Sans Bold"/>
                <a:ea typeface="Canva Sans Bold"/>
                <a:cs typeface="Canva Sans Bold"/>
                <a:sym typeface="Canva Sans Bold"/>
              </a:rPr>
              <a:t>Moderate content pages:</a:t>
            </a:r>
            <a:r>
              <a:rPr lang="en-US" sz="2499">
                <a:solidFill>
                  <a:srgbClr val="000000"/>
                </a:solidFill>
                <a:latin typeface="Canva Sans"/>
                <a:ea typeface="Canva Sans"/>
                <a:cs typeface="Canva Sans"/>
                <a:sym typeface="Canva Sans"/>
              </a:rPr>
              <a:t> Produced relevant summaries with slightly reduced contextual detail</a:t>
            </a:r>
          </a:p>
          <a:p>
            <a:pPr algn="just" marL="539749" indent="-269875" lvl="1">
              <a:lnSpc>
                <a:spcPts val="3499"/>
              </a:lnSpc>
              <a:buFont typeface="Arial"/>
              <a:buChar char="•"/>
            </a:pPr>
            <a:r>
              <a:rPr lang="en-US" b="true" sz="2499">
                <a:solidFill>
                  <a:srgbClr val="000000"/>
                </a:solidFill>
                <a:latin typeface="Canva Sans Bold"/>
                <a:ea typeface="Canva Sans Bold"/>
                <a:cs typeface="Canva Sans Bold"/>
                <a:sym typeface="Canva Sans Bold"/>
              </a:rPr>
              <a:t>Image-based input:</a:t>
            </a:r>
            <a:r>
              <a:rPr lang="en-US" sz="2499">
                <a:solidFill>
                  <a:srgbClr val="000000"/>
                </a:solidFill>
                <a:latin typeface="Canva Sans"/>
                <a:ea typeface="Canva Sans"/>
                <a:cs typeface="Canva Sans"/>
                <a:sym typeface="Canva Sans"/>
              </a:rPr>
              <a:t> OCR successfully extracted text and enabled summarization</a:t>
            </a:r>
          </a:p>
          <a:p>
            <a:pPr algn="just" marL="539749" indent="-269875" lvl="1">
              <a:lnSpc>
                <a:spcPts val="3499"/>
              </a:lnSpc>
              <a:buFont typeface="Arial"/>
              <a:buChar char="•"/>
            </a:pPr>
            <a:r>
              <a:rPr lang="en-US" b="true" sz="2499">
                <a:solidFill>
                  <a:srgbClr val="000000"/>
                </a:solidFill>
                <a:latin typeface="Canva Sans Bold"/>
                <a:ea typeface="Canva Sans Bold"/>
                <a:cs typeface="Canva Sans Bold"/>
                <a:sym typeface="Canva Sans Bold"/>
              </a:rPr>
              <a:t>Visual-dominant pages</a:t>
            </a:r>
            <a:r>
              <a:rPr lang="en-US" sz="2499">
                <a:solidFill>
                  <a:srgbClr val="000000"/>
                </a:solidFill>
                <a:latin typeface="Canva Sans"/>
                <a:ea typeface="Canva Sans"/>
                <a:cs typeface="Canva Sans"/>
                <a:sym typeface="Canva Sans"/>
              </a:rPr>
              <a:t>: Detected figures and tables and generated meaningful insights</a:t>
            </a:r>
          </a:p>
          <a:p>
            <a:pPr algn="just" marL="539749" indent="-269875" lvl="1">
              <a:lnSpc>
                <a:spcPts val="3499"/>
              </a:lnSpc>
              <a:buFont typeface="Arial"/>
              <a:buChar char="•"/>
            </a:pPr>
            <a:r>
              <a:rPr lang="en-US" b="true" sz="2499">
                <a:solidFill>
                  <a:srgbClr val="000000"/>
                </a:solidFill>
                <a:latin typeface="Canva Sans Bold"/>
                <a:ea typeface="Canva Sans Bold"/>
                <a:cs typeface="Canva Sans Bold"/>
                <a:sym typeface="Canva Sans Bold"/>
              </a:rPr>
              <a:t>Noisy conten</a:t>
            </a:r>
            <a:r>
              <a:rPr lang="en-US" sz="2499">
                <a:solidFill>
                  <a:srgbClr val="000000"/>
                </a:solidFill>
                <a:latin typeface="Canva Sans"/>
                <a:ea typeface="Canva Sans"/>
                <a:cs typeface="Canva Sans"/>
                <a:sym typeface="Canva Sans"/>
              </a:rPr>
              <a:t>t:Preprocessing effectively removed unwanted data and improved output quality</a:t>
            </a:r>
          </a:p>
        </p:txBody>
      </p:sp>
      <p:sp>
        <p:nvSpPr>
          <p:cNvPr name="TextBox 4" id="4"/>
          <p:cNvSpPr txBox="true"/>
          <p:nvPr/>
        </p:nvSpPr>
        <p:spPr>
          <a:xfrm rot="0">
            <a:off x="9717437" y="1350963"/>
            <a:ext cx="8216317" cy="8757661"/>
          </a:xfrm>
          <a:prstGeom prst="rect">
            <a:avLst/>
          </a:prstGeom>
        </p:spPr>
        <p:txBody>
          <a:bodyPr anchor="t" rtlCol="false" tIns="0" lIns="0" bIns="0" rIns="0">
            <a:spAutoFit/>
          </a:bodyPr>
          <a:lstStyle/>
          <a:p>
            <a:pPr algn="l">
              <a:lnSpc>
                <a:spcPts val="3500"/>
              </a:lnSpc>
            </a:pPr>
            <a:r>
              <a:rPr lang="en-US" sz="2500" b="true">
                <a:solidFill>
                  <a:srgbClr val="000000"/>
                </a:solidFill>
                <a:latin typeface="Canva Sans Bold"/>
                <a:ea typeface="Canva Sans Bold"/>
                <a:cs typeface="Canva Sans Bold"/>
                <a:sym typeface="Canva Sans Bold"/>
              </a:rPr>
              <a:t>Results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Generate</a:t>
            </a:r>
            <a:r>
              <a:rPr lang="en-US" sz="2500">
                <a:solidFill>
                  <a:srgbClr val="000000"/>
                </a:solidFill>
                <a:latin typeface="Canva Sans"/>
                <a:ea typeface="Canva Sans"/>
                <a:cs typeface="Canva Sans"/>
                <a:sym typeface="Canva Sans"/>
              </a:rPr>
              <a:t>d page-wise summaries for multi-page documents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Produced a final comprehensive summary</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Successfully handled multi-format inputs (PDF + images)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Accurately extracted text using PDF.js and OCR</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Detected and analyzed visual elements (figures and tables)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Displayed structured output (Overview, Methodology, Results, Conclusion)</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Achieved efficient and consistent performance</a:t>
            </a:r>
          </a:p>
          <a:p>
            <a:pPr algn="l">
              <a:lnSpc>
                <a:spcPts val="3500"/>
              </a:lnSpc>
            </a:pPr>
            <a:r>
              <a:rPr lang="en-US" b="true" sz="2500">
                <a:solidFill>
                  <a:srgbClr val="000000"/>
                </a:solidFill>
                <a:latin typeface="Canva Sans Bold"/>
                <a:ea typeface="Canva Sans Bold"/>
                <a:cs typeface="Canva Sans Bold"/>
                <a:sym typeface="Canva Sans Bold"/>
              </a:rPr>
              <a:t>System Performance</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Fast processing with low computational requirements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High accuracy in identifying important sentences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Improved document understanding through visual insights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Reliable performance across different document types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612789"/>
            <a:ext cx="7140804" cy="3347252"/>
          </a:xfrm>
          <a:custGeom>
            <a:avLst/>
            <a:gdLst/>
            <a:ahLst/>
            <a:cxnLst/>
            <a:rect r="r" b="b" t="t" l="l"/>
            <a:pathLst>
              <a:path h="3347252" w="7140804">
                <a:moveTo>
                  <a:pt x="0" y="0"/>
                </a:moveTo>
                <a:lnTo>
                  <a:pt x="7140804" y="0"/>
                </a:lnTo>
                <a:lnTo>
                  <a:pt x="7140804" y="3347252"/>
                </a:lnTo>
                <a:lnTo>
                  <a:pt x="0" y="3347252"/>
                </a:lnTo>
                <a:lnTo>
                  <a:pt x="0" y="0"/>
                </a:lnTo>
                <a:close/>
              </a:path>
            </a:pathLst>
          </a:custGeom>
          <a:blipFill>
            <a:blip r:embed="rId2"/>
            <a:stretch>
              <a:fillRect l="0" t="0" r="0" b="0"/>
            </a:stretch>
          </a:blipFill>
        </p:spPr>
      </p:sp>
      <p:sp>
        <p:nvSpPr>
          <p:cNvPr name="Freeform 3" id="3"/>
          <p:cNvSpPr/>
          <p:nvPr/>
        </p:nvSpPr>
        <p:spPr>
          <a:xfrm flipH="false" flipV="false" rot="0">
            <a:off x="1028700" y="5395591"/>
            <a:ext cx="7508038" cy="3470692"/>
          </a:xfrm>
          <a:custGeom>
            <a:avLst/>
            <a:gdLst/>
            <a:ahLst/>
            <a:cxnLst/>
            <a:rect r="r" b="b" t="t" l="l"/>
            <a:pathLst>
              <a:path h="3470692" w="7508038">
                <a:moveTo>
                  <a:pt x="0" y="0"/>
                </a:moveTo>
                <a:lnTo>
                  <a:pt x="7508038" y="0"/>
                </a:lnTo>
                <a:lnTo>
                  <a:pt x="7508038" y="3470692"/>
                </a:lnTo>
                <a:lnTo>
                  <a:pt x="0" y="3470692"/>
                </a:lnTo>
                <a:lnTo>
                  <a:pt x="0" y="0"/>
                </a:lnTo>
                <a:close/>
              </a:path>
            </a:pathLst>
          </a:custGeom>
          <a:blipFill>
            <a:blip r:embed="rId3"/>
            <a:stretch>
              <a:fillRect l="-520" t="0" r="-520" b="0"/>
            </a:stretch>
          </a:blipFill>
        </p:spPr>
      </p:sp>
      <p:sp>
        <p:nvSpPr>
          <p:cNvPr name="Freeform 4" id="4"/>
          <p:cNvSpPr/>
          <p:nvPr/>
        </p:nvSpPr>
        <p:spPr>
          <a:xfrm flipH="false" flipV="false" rot="0">
            <a:off x="8857478" y="1550900"/>
            <a:ext cx="7933784" cy="3296378"/>
          </a:xfrm>
          <a:custGeom>
            <a:avLst/>
            <a:gdLst/>
            <a:ahLst/>
            <a:cxnLst/>
            <a:rect r="r" b="b" t="t" l="l"/>
            <a:pathLst>
              <a:path h="3296378" w="7933784">
                <a:moveTo>
                  <a:pt x="0" y="0"/>
                </a:moveTo>
                <a:lnTo>
                  <a:pt x="7933784" y="0"/>
                </a:lnTo>
                <a:lnTo>
                  <a:pt x="7933784" y="3296379"/>
                </a:lnTo>
                <a:lnTo>
                  <a:pt x="0" y="3296379"/>
                </a:lnTo>
                <a:lnTo>
                  <a:pt x="0" y="0"/>
                </a:lnTo>
                <a:close/>
              </a:path>
            </a:pathLst>
          </a:custGeom>
          <a:blipFill>
            <a:blip r:embed="rId4"/>
            <a:stretch>
              <a:fillRect l="0" t="0" r="0" b="-5298"/>
            </a:stretch>
          </a:blipFill>
        </p:spPr>
      </p:sp>
      <p:sp>
        <p:nvSpPr>
          <p:cNvPr name="Freeform 5" id="5"/>
          <p:cNvSpPr/>
          <p:nvPr/>
        </p:nvSpPr>
        <p:spPr>
          <a:xfrm flipH="false" flipV="false" rot="0">
            <a:off x="8857478" y="5334526"/>
            <a:ext cx="8054183" cy="3594179"/>
          </a:xfrm>
          <a:custGeom>
            <a:avLst/>
            <a:gdLst/>
            <a:ahLst/>
            <a:cxnLst/>
            <a:rect r="r" b="b" t="t" l="l"/>
            <a:pathLst>
              <a:path h="3594179" w="8054183">
                <a:moveTo>
                  <a:pt x="0" y="0"/>
                </a:moveTo>
                <a:lnTo>
                  <a:pt x="8054184" y="0"/>
                </a:lnTo>
                <a:lnTo>
                  <a:pt x="8054184" y="3594179"/>
                </a:lnTo>
                <a:lnTo>
                  <a:pt x="0" y="3594179"/>
                </a:lnTo>
                <a:lnTo>
                  <a:pt x="0" y="0"/>
                </a:lnTo>
                <a:close/>
              </a:path>
            </a:pathLst>
          </a:custGeom>
          <a:blipFill>
            <a:blip r:embed="rId5"/>
            <a:stretch>
              <a:fillRect l="0" t="0" r="0" b="0"/>
            </a:stretch>
          </a:blipFill>
        </p:spPr>
      </p:sp>
      <p:sp>
        <p:nvSpPr>
          <p:cNvPr name="TextBox 6" id="6"/>
          <p:cNvSpPr txBox="true"/>
          <p:nvPr/>
        </p:nvSpPr>
        <p:spPr>
          <a:xfrm rot="0">
            <a:off x="1012554" y="705162"/>
            <a:ext cx="1992612" cy="580401"/>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RESULTS:</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493106" y="677862"/>
            <a:ext cx="9304700" cy="730250"/>
          </a:xfrm>
          <a:prstGeom prst="rect">
            <a:avLst/>
          </a:prstGeom>
        </p:spPr>
        <p:txBody>
          <a:bodyPr anchor="t" rtlCol="false" tIns="0" lIns="0" bIns="0" rIns="0">
            <a:spAutoFit/>
          </a:bodyPr>
          <a:lstStyle/>
          <a:p>
            <a:pPr algn="l">
              <a:lnSpc>
                <a:spcPts val="5650"/>
              </a:lnSpc>
            </a:pPr>
            <a:r>
              <a:rPr lang="en-US" b="true" sz="5000">
                <a:solidFill>
                  <a:srgbClr val="000000"/>
                </a:solidFill>
                <a:latin typeface="Glacial Indifference Bold"/>
                <a:ea typeface="Glacial Indifference Bold"/>
                <a:cs typeface="Glacial Indifference Bold"/>
                <a:sym typeface="Glacial Indifference Bold"/>
              </a:rPr>
              <a:t>CONCLUSION &amp; FUTURE WORK</a:t>
            </a:r>
          </a:p>
        </p:txBody>
      </p:sp>
      <p:sp>
        <p:nvSpPr>
          <p:cNvPr name="TextBox 3" id="3"/>
          <p:cNvSpPr txBox="true"/>
          <p:nvPr/>
        </p:nvSpPr>
        <p:spPr>
          <a:xfrm rot="0">
            <a:off x="1028700" y="1360488"/>
            <a:ext cx="8115300" cy="6557134"/>
          </a:xfrm>
          <a:prstGeom prst="rect">
            <a:avLst/>
          </a:prstGeom>
        </p:spPr>
        <p:txBody>
          <a:bodyPr anchor="t" rtlCol="false" tIns="0" lIns="0" bIns="0" rIns="0">
            <a:spAutoFit/>
          </a:bodyPr>
          <a:lstStyle/>
          <a:p>
            <a:pPr algn="just">
              <a:lnSpc>
                <a:spcPts val="3499"/>
              </a:lnSpc>
            </a:pPr>
            <a:r>
              <a:rPr lang="en-US" sz="2499" b="true">
                <a:solidFill>
                  <a:srgbClr val="000000"/>
                </a:solidFill>
                <a:latin typeface="Canva Sans Bold"/>
                <a:ea typeface="Canva Sans Bold"/>
                <a:cs typeface="Canva Sans Bold"/>
                <a:sym typeface="Canva Sans Bold"/>
              </a:rPr>
              <a:t>Conclus</a:t>
            </a:r>
            <a:r>
              <a:rPr lang="en-US" b="true" sz="2499">
                <a:solidFill>
                  <a:srgbClr val="000000"/>
                </a:solidFill>
                <a:latin typeface="Canva Sans Bold"/>
                <a:ea typeface="Canva Sans Bold"/>
                <a:cs typeface="Canva Sans Bold"/>
                <a:sym typeface="Canva Sans Bold"/>
              </a:rPr>
              <a:t>ion</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The proposed system successfully implements a Cognitive AI-Based Text Summarization approach</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Effectively processes multi-format inputs such as PDFs and images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Utilizes PDF parsing and OCR techniques for accurate text extraction</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Generates page-wise and final summaries with reduced redundancy</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Incorporates visual content analysis to detect figures and tables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Provides structured and user-friendly output</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Achieves efficient, scalable, and reliable performance</a:t>
            </a:r>
          </a:p>
          <a:p>
            <a:pPr algn="just">
              <a:lnSpc>
                <a:spcPts val="3499"/>
              </a:lnSpc>
            </a:pPr>
          </a:p>
        </p:txBody>
      </p:sp>
      <p:sp>
        <p:nvSpPr>
          <p:cNvPr name="TextBox 4" id="4"/>
          <p:cNvSpPr txBox="true"/>
          <p:nvPr/>
        </p:nvSpPr>
        <p:spPr>
          <a:xfrm rot="0">
            <a:off x="9509913" y="1570063"/>
            <a:ext cx="7438101" cy="6128458"/>
          </a:xfrm>
          <a:prstGeom prst="rect">
            <a:avLst/>
          </a:prstGeom>
        </p:spPr>
        <p:txBody>
          <a:bodyPr anchor="t" rtlCol="false" tIns="0" lIns="0" bIns="0" rIns="0">
            <a:spAutoFit/>
          </a:bodyPr>
          <a:lstStyle/>
          <a:p>
            <a:pPr algn="l">
              <a:lnSpc>
                <a:spcPts val="3500"/>
              </a:lnSpc>
            </a:pPr>
            <a:r>
              <a:rPr lang="en-US" sz="2500" b="true">
                <a:solidFill>
                  <a:srgbClr val="000000"/>
                </a:solidFill>
                <a:latin typeface="Canva Sans Bold"/>
                <a:ea typeface="Canva Sans Bold"/>
                <a:cs typeface="Canva Sans Bold"/>
                <a:sym typeface="Canva Sans Bold"/>
              </a:rPr>
              <a:t>Futur</a:t>
            </a:r>
            <a:r>
              <a:rPr lang="en-US" sz="2500" b="true">
                <a:solidFill>
                  <a:srgbClr val="000000"/>
                </a:solidFill>
                <a:latin typeface="Canva Sans Bold"/>
                <a:ea typeface="Canva Sans Bold"/>
                <a:cs typeface="Canva Sans Bold"/>
                <a:sym typeface="Canva Sans Bold"/>
              </a:rPr>
              <a:t>e Work</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Integration of advance</a:t>
            </a:r>
            <a:r>
              <a:rPr lang="en-US" sz="2500">
                <a:solidFill>
                  <a:srgbClr val="000000"/>
                </a:solidFill>
                <a:latin typeface="Canva Sans"/>
                <a:ea typeface="Canva Sans"/>
                <a:cs typeface="Canva Sans"/>
                <a:sym typeface="Canva Sans"/>
              </a:rPr>
              <a:t>d deep learning models (LSTM, Transformers) for better contextual understanding</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Support for multilingual text summarization</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Development of real-time document processing systems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Enh</a:t>
            </a:r>
            <a:r>
              <a:rPr lang="en-US" sz="2500">
                <a:solidFill>
                  <a:srgbClr val="000000"/>
                </a:solidFill>
                <a:latin typeface="Canva Sans"/>
                <a:ea typeface="Canva Sans"/>
                <a:cs typeface="Canva Sans"/>
                <a:sym typeface="Canva Sans"/>
              </a:rPr>
              <a:t>anced visual analysis for complex diagrams and charts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Deployment as a mobile or cloud-based application</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Improvement in OCR accuracy for low-quality images</a:t>
            </a:r>
          </a:p>
          <a:p>
            <a:pPr algn="l">
              <a:lnSpc>
                <a:spcPts val="3500"/>
              </a:lnSpc>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702841" y="4274478"/>
            <a:ext cx="6882318" cy="1566595"/>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DAHBFVu33uQ</dc:identifier>
  <dcterms:modified xsi:type="dcterms:W3CDTF">2011-08-01T06:04:30Z</dcterms:modified>
  <cp:revision>1</cp:revision>
  <dc:title>Ai Cognitive Text Summarizer</dc:title>
</cp:coreProperties>
</file>